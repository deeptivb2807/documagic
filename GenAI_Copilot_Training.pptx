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4"/>
  </p:notesMasterIdLst>
  <p:sldIdLst>
    <p:sldId id="256" r:id="rId2"/>
    <p:sldId id="262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314" r:id="rId11"/>
    <p:sldId id="257" r:id="rId12"/>
    <p:sldId id="258" r:id="rId13"/>
    <p:sldId id="315" r:id="rId14"/>
    <p:sldId id="316" r:id="rId15"/>
    <p:sldId id="317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27" r:id="rId32"/>
    <p:sldId id="328" r:id="rId33"/>
    <p:sldId id="331" r:id="rId34"/>
    <p:sldId id="371" r:id="rId35"/>
    <p:sldId id="259" r:id="rId36"/>
    <p:sldId id="260" r:id="rId37"/>
    <p:sldId id="334" r:id="rId38"/>
    <p:sldId id="335" r:id="rId39"/>
    <p:sldId id="372" r:id="rId40"/>
    <p:sldId id="373" r:id="rId41"/>
    <p:sldId id="374" r:id="rId42"/>
    <p:sldId id="386" r:id="rId43"/>
    <p:sldId id="376" r:id="rId44"/>
    <p:sldId id="377" r:id="rId45"/>
    <p:sldId id="387" r:id="rId46"/>
    <p:sldId id="388" r:id="rId47"/>
    <p:sldId id="389" r:id="rId48"/>
    <p:sldId id="390" r:id="rId49"/>
    <p:sldId id="391" r:id="rId50"/>
    <p:sldId id="392" r:id="rId51"/>
    <p:sldId id="393" r:id="rId52"/>
    <p:sldId id="394" r:id="rId53"/>
    <p:sldId id="395" r:id="rId54"/>
    <p:sldId id="397" r:id="rId55"/>
    <p:sldId id="378" r:id="rId56"/>
    <p:sldId id="379" r:id="rId57"/>
    <p:sldId id="380" r:id="rId58"/>
    <p:sldId id="381" r:id="rId59"/>
    <p:sldId id="382" r:id="rId60"/>
    <p:sldId id="383" r:id="rId61"/>
    <p:sldId id="384" r:id="rId62"/>
    <p:sldId id="339" r:id="rId63"/>
    <p:sldId id="340" r:id="rId64"/>
    <p:sldId id="341" r:id="rId65"/>
    <p:sldId id="342" r:id="rId66"/>
    <p:sldId id="261" r:id="rId67"/>
    <p:sldId id="344" r:id="rId68"/>
    <p:sldId id="345" r:id="rId69"/>
    <p:sldId id="346" r:id="rId70"/>
    <p:sldId id="347" r:id="rId71"/>
    <p:sldId id="348" r:id="rId72"/>
    <p:sldId id="349" r:id="rId73"/>
    <p:sldId id="350" r:id="rId74"/>
    <p:sldId id="351" r:id="rId75"/>
    <p:sldId id="352" r:id="rId76"/>
    <p:sldId id="353" r:id="rId77"/>
    <p:sldId id="354" r:id="rId78"/>
    <p:sldId id="355" r:id="rId79"/>
    <p:sldId id="263" r:id="rId80"/>
    <p:sldId id="274" r:id="rId81"/>
    <p:sldId id="275" r:id="rId82"/>
    <p:sldId id="276" r:id="rId83"/>
    <p:sldId id="277" r:id="rId84"/>
    <p:sldId id="278" r:id="rId85"/>
    <p:sldId id="279" r:id="rId86"/>
    <p:sldId id="280" r:id="rId87"/>
    <p:sldId id="281" r:id="rId88"/>
    <p:sldId id="282" r:id="rId89"/>
    <p:sldId id="283" r:id="rId90"/>
    <p:sldId id="264" r:id="rId91"/>
    <p:sldId id="285" r:id="rId92"/>
    <p:sldId id="286" r:id="rId93"/>
    <p:sldId id="287" r:id="rId94"/>
    <p:sldId id="288" r:id="rId95"/>
    <p:sldId id="289" r:id="rId96"/>
    <p:sldId id="290" r:id="rId97"/>
    <p:sldId id="291" r:id="rId98"/>
    <p:sldId id="292" r:id="rId99"/>
    <p:sldId id="293" r:id="rId100"/>
    <p:sldId id="294" r:id="rId101"/>
    <p:sldId id="266" r:id="rId102"/>
    <p:sldId id="295" r:id="rId103"/>
    <p:sldId id="296" r:id="rId104"/>
    <p:sldId id="297" r:id="rId105"/>
    <p:sldId id="298" r:id="rId106"/>
    <p:sldId id="299" r:id="rId107"/>
    <p:sldId id="300" r:id="rId108"/>
    <p:sldId id="284" r:id="rId109"/>
    <p:sldId id="265" r:id="rId110"/>
    <p:sldId id="301" r:id="rId111"/>
    <p:sldId id="302" r:id="rId112"/>
    <p:sldId id="303" r:id="rId113"/>
    <p:sldId id="304" r:id="rId114"/>
    <p:sldId id="305" r:id="rId115"/>
    <p:sldId id="306" r:id="rId116"/>
    <p:sldId id="307" r:id="rId117"/>
    <p:sldId id="308" r:id="rId118"/>
    <p:sldId id="309" r:id="rId119"/>
    <p:sldId id="310" r:id="rId120"/>
    <p:sldId id="311" r:id="rId121"/>
    <p:sldId id="312" r:id="rId122"/>
    <p:sldId id="313" r:id="rId1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91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21T04:14:14.1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2677 5484 0,'26'0'188,"0"0"-188,0 0 0,1 0 15,-1 0-15,0 0 0,0 0 0,1 0 0,-1 0 16,0 0-16,0 0 0,1 0 0,-1 0 16,0 0-16,0 0 0,0 0 0,1 0 15,-1 0-15,0 0 0,0 0 16,1 0-16,-1 0 0,0 0 15,0 0-15,1 0 16,-1 0-16,0 0 0,0 0 16,1 0-1,-1 0 1,0 0 0,0 0-16,1 0 31,-1 0 0,0 0-15,0 0-16,1 0 15,-1 0-15,0 0 16,0 0 0,0 0-16,1 0 15,-1 0 1,0 0-16,0 0 15,1 0 1,-1 0-16,0 0 0,0 0 0,1 0 16,-1 0-16,0 0 15,0 0-15,1 0 0,-1 0 16,0 0 0,0 0-16,1 0 15,-1 0-15,0 0 16,0 0-16,1 0 31,-1 0-31,0 0 0,0 0 31,0 0-15,1 0 15,-1 0 0,0 0-31,0 0 63,1 0-16,-1 0 15,0 0 16</inkml:trace>
  <inkml:trace contextRef="#ctx0" brushRef="#br0" timeOffset="23632.63">2493 7793 0,'26'0'203,"0"0"-188,1 0-15,-1 0 0,0 0 0,0 0 16,1 0-16,-1 0 16,0 0-16,0 0 0,27 0 15,-27 0-15,0 0 16,1 0-16,25 0 0,-26 0 16,1 0-16,-1 0 0,0 0 15,0 0-15,0 26 16,1-26-16,25 0 0,-26 0 0,1 0 15,-1 0-15,0 0 0,27 0 0,-1 0 16,-26 0-16,27 0 16,-27 0-16,0 0 15,1 0-15,-1 0 0,0 0 0,0 0 16,1 0-16,-1 0 16,0 0-16,0 0 15,0 0-15,1 0 31,-1 0-31,0 0 32,0 0-32,1 0 15,-1 0-15,0 0 16,0 0 0,1 0-16,-1 0 15,0 0-15,0 0 0,1 0 16,-1 0-16,0 0 15,0 0-15,1 0 0,-1 0 32,0 0-32,0 0 0,1 0 0,-1 0 0,0 0 15,0 0 1,0 0-16,1 0 16,-1 0-16,0 0 0,0 0 15,1 0 1,-1 0-1,0 0-15,0 0 0,1 0 16,-1 0-16,0 0 16,0 0-1,1 0 1,-1 0-16,0 0 31,0 0-15,1 0 15,-1 0-15,0 0 31,0 0 46,1 0-46,-1 0 47,0 0-78,0 0-1,0 0 32,1 0-31,-1 0 15,0 0-31,0 0 16,1 0 30,-1 0-30,0 0 15,0 0-15,1 0 15</inkml:trace>
  <inkml:trace contextRef="#ctx0" brushRef="#br0" timeOffset="38787.07">2834 8869 0,'26'0'203,"1"0"-203,-1 0 32,0 0-32,0 0 0,1 0 0,-1 0 0,26 0 15,-26 0-15,1 0 16,-1 0 0,0 0-16,0 0 0,1 0 0,-1 0 15,0 0 1,0 0-16,1 0 15,-1 0 1,0 0-16,0 0 0,1 0 0,-1 0 16,0 0-16,0 0 0,27 0 31,-27 0-31,0 0 16,1 0-16,-1 0 0,0 0 15,0 0-15,0 0 0,1 0 16,-1 0-16,0 0 0,0 0 15,1 0-15,-1 0 16,0 0-16,0 0 16,1 0-1,-1 0 1,0 0 0,0 0-1,1 0 1,-1 0-16,0 0 15,0 0 1,1 0-16,-1 0 0,0 0 16,0 0-16,1 0 15,-1 0 1,0 0-16,0 0 16,0 0-16,1 0 15,-1 0-15,0 0 16,0 0-1,1 0-15,-1 0 0,0 0 0,0 0 16,1 0-16,-1 0 0,0 0 0,0 0 16,1 0-16,-1 0 0,0 0 0,0 0 15,1 0-15,-1 0 0,0 0 0,0 26 16,27-26-16,-27 0 0,26 0 16,-25 0-16,-1 0 0,0 0 15,0 0-15,1 0 16,-1 0-16,0 0 0,0 0 15,1 0-15,-1 0 0,0 0 16,0 0-16,1 0 16,-1 0-16,0 0 15,0 0-15,1 0 0,-1 0 32,0 0-32,0 0 0,0 0 15,1 0 1,-1 0-16,0 0 15,0 0 17,1 0-17,-1 0 1,0 0 0,0 0-1,1 0 1,-1 0-16,0 0 15,0 0 1,1 0 15,-1 0 32</inkml:trace>
  <inkml:trace contextRef="#ctx0" brushRef="#br0" timeOffset="54267.73">2782 11152 0,'26'0'109,"0"0"-93,0 0 62,1 0-63,25 0-15,-26 0 0,27 0 0,-27 0 16,26 0-16,1 0 0,-27 0 16,0 0-16,1 0 0,-1 0 0,0 0 15,0 0-15,1 0 0,-1 0 0,26 0 32,1 0-32,-27 0 0,0 0 0,1 0 0,25 0 0,-26 0 31,1 0-31,-1 0 0,0 0 0,0 0 15,0 0-15,1 0 0,25 0 16,-26 0-16,1 0 0,-1 0 0,0 0 16,0 0-16,1 0 0,25 0 0,-26 0 15,1 0-15,25 0 0,-26 0 0,1 0 16,25 0-16,-26 0 0,1 0 16,25 0-16,0 0 0,-25 0 15,-1 0-15,26 0 0,-25 0 16,-1 0-16,0 0 0,0 0 0,1 0 15,-1 0-15,0 0 16,0 0 0,1 0-1,-1 0 1,0 0 15,0 0 0,1 0 1,-1 0-17,0 0 1,-26 26-16</inkml:trace>
  <inkml:trace contextRef="#ctx0" brushRef="#br0" timeOffset="59199.22">3070 13303 0,'26'0'141,"1"0"-126,-1 0 1,0 0-16,0 0 0,27 0 16,-27 0-16,27 0 0,-27 0 0,0 0 15,0 0-15,1 0 0,-1 27 0,26-27 16,-25 0-16,25 0 15,-26 0-15,1 0 0,25 0 16,-52 26-16,52-26 0,-25 0 0,-1 0 16,0 0-16,0 0 0,27 0 15,-27 0 1,0 0-16,1 0 0,-1 0 0,0 0 0,0 0 16,1 0-1,-1 0-15,0 0 0,0 0 16,1 0-1,-1 0-15,0 0 16,0 0 0,1 0-1,-1 0 1,0 0-16,0 0 16,0 0-16,1 0 15,-27 26-15,26-26 16,0 0-16,0 0 0,1 0 15,-1 0 1,0 0 0,0 0-1,1 26-15,-1-26 47,-26 27-47,26-27 0,0 0 16,1 0-1,-1 0 17,0 0-17,0 0-15</inkml:trace>
  <inkml:trace contextRef="#ctx0" brushRef="#br0" timeOffset="67963.67">3201 15612 0,'27'0'156,"-1"0"-140,0 0 0,0 0-16,1 0 15,-1 0-15,0 0 0,0 0 16,1 0-16,-1 0 15,0 0-15,0 0 0,1 0 16,-1 0-16,0 0 16,0 0-16,1 0 0,-1 0 15,0 0-15,0 0 16,0 0-16,1 0 0,-1 0 0,0 0 0,27 0 16,-27 0-16,26 0 15,-25 0-15,25 0 16,-26 0-16,1 0 15,-1 0-15,0 0 0,0 0 0,1 0 16,-1 0 0,0 0-16,0 0 15,1 0-15,-1 0 16,0 0 0,0 0-16,0 0 15,1 0 1,-1 0-16,0 0 15,0 0-15,1 0 16,-1 0-16,0 0 16,0 0-16,1 0 15,-1 0-15,0 0 0,0 0 16,1 0 0,-1 0-16,0 0 15,0 0-15,1 0 31,-1 0-31,0 0 32,0 0-17,1 0 1,-1 0 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21T04:16:06.21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1863 3700 0,'26'0'125,"1"0"-94,-1 0-31,26 0 16,-25 0-16,25 0 0,-26 0 0,27 0 0,-27 0 15,0 0-15,27 0 0,-27 0 0,53 0 16,-27 0-16,1 0 0,-27 0 15,0 0-15,27 0 0,-27 0 0,53 0 16,-1 0-16,-25 0 0,52 0 0,0 0 16,-27 0-16,-25 0 0,26 0 0,-1 0 15,-51 0-15,51 0 0,-51 0 0,51 0 16,-25 0 0,-1 0-16,1 0 0,-1 0 0,-26 0 0,53 0 0,-53 0 0,27 0 15,-27 0-15,0 0 0,27 0 0,-27 0 16,27 0-16,-1 0 0,-26 0 0,53 0 15,-26 0-15,-27 0 0,26 0 0,1 0 16,-1 0 0,27 0-16,-53 0 0,53 0 0,-27 0 0,1 0 0,-1 0 0,27 0 31,-53 26-31,53-26 0,-27 0 0,1 0 16,-1 0-16,1 0 0,-1 26 0,27-26 15,-26 0-15,25 0 0,-25 0 0,-1 0 16,1 0-16,25 0 0,-51 26 0,25-26 15,27 0-15,-27 0 0,-25 0 16,-1 0-16,0 27 0,0-27 0,1 0 16,25 0-16,-26 0 0,27 0 15,-1 0-15,-26 0 16,1 0-16,25 26 0,1-26 0,-1 0 16,-26 0-16,1 0 0,-1 26 15,26-26-15,1 0 0,-27 0 0,27 0 16,-27 0-16,26 0 0,1 0 0,-27 0 15,26 0-15,-25 0 0,-1 26 0,26-26 16,-25 0-16,-1 0 0,0 0 0,0 0 16,27 0-16,-1 0 0,-25 0 15,-1 0-15,26 0 0,1 0 16,-1 0-16,-25 0 0,-1 0 0,0 0 16,26 0-16,1 0 0,-27 0 0,53 27 15,-53-27-15,53 0 0,-27 0 0,1 0 16,-1 0-16,27 0 0,-53 0 0,53 0 15,-27 0-15,-25 0 0,25 0 0,-26 0 16,27 0-16,-1 0 0,-25 0 0,25 0 16,1 0-16,-27 0 15,0 0-15,0 0 0,1 0 0,-1 0 0,0 0 16,0 0-16,0 0 0,27 0 0,-1 0 16,-25 0-16,-1 0 15,0 0-15,0 0 0,1 0 16,-1 0-16,0 0 15,0 0-15,27 0 0,-27 0 16,0 0 0,1 0-16,-1 0 0,0 0 0,0 0 15,1 0-15,25 0 0,-26 0 0,0 0 16,1 0-16,-1 0 0,0 0 0,27-27 0,-27 27 16,26 0-16,-25 0 0,25 0 0,1 0 15,-1 0-15,-26 0 0,53 0 16,26 0-16,26 0 0,0 0 0,1 0 15,-27 0-15,-27 0 0,1 0 0,0 0 16,26 0-16,-53 0 0,27 0 16,0 0-16,-27 0 0,27 27 0,-27-27 0,27 26 15,-53-26-15,27 0 0,-27 26 0,26-26 16,-25 0-16,-1 0 0,26 0 0,1 26 16,-27-26-16,27 0 15,-27 0-15,26 0 0,1 0 0,-27 0 0,26 0 0,-25 0 16,25 0-16,1 0 0,-53 26 0,52-26 15,-26 0-15,27 0 16,-27 0-16,0 0 0,27 0 0,-27 0 0,0 0 0,27 0 16,-1 0-16,1 0 0,-27 0 15,26 0-15,-25 0 0,25 0 0,1 0 16,-27 0-16,26 0 0,-25 0 0,25 0 16,1 0-16,-27 0 0,26 0 0,-25 0 15,25 0-15,1 0 0,-1 0 16,-26 0-16,27 0 0,-27 0 15,0 0-15,27 0 0,-27 0 0,0 0 16,27 0-16,-27 0 0,26 0 0,-25 0 0,-1 0 16,26 0-16,-25 0 0,51 0 0,-25 0 15,-27 0-15,26 0 0,-25 0 16,25 0-16,1 0 0,-27 0 0,26 0 16,-25 0-16,25 0 0,1 0 0,-27 0 15,26 0-15,-25 0 0,-1 0 0,26 0 16,-25 0-16,-1 0 0,0 0 0,26 0 15,-25 0-15,-1 0 0,26 0 0,-25 0 16,-1 0-16,0 0 0,0 0 16,1 0-16,-1 0 0,0 0 0,0 0 15,1 0-15,25 0 0,1 0 16,-1 0-16,-26 0 16,0 0-16,1 0 0,-1 0 15,0 0-15,0 0 0,27 0 16,-27 0-16,0 0 15,1 0-15,-1 0 0,0 0 16,0 0-16,1 0 0,-1 0 16,0 0-16,0 0 0,1 0 15,-1 0-15,0 0 0,0 0 0,1 0 32,25-26-32,-26 26 0,0 0 15,1-26-15,25 26 16,-26-26-16,27 26 0,-27 0 15,27 0-15,-1-26 16,-26 26-16,27 0 0,-27 0 16,0 0-16,1-27 0,-1 27 15,0 0-15,0-26 0,1 26 16,-1 0-16,0 0 0,0 0 0,0 0 16,1 0-16,25 0 0,-26 0 15,27 0-15,-1 0 16,-25 0-16,25 0 0,1 0 0,-1 0 15,-26 0-15,27 0 0,-1 0 16,-25 0-16,25 0 0,-26 0 0,27 0 16,25 0-16,-25 0 0,-1 0 15,-25 0-15,25 0 0,-26 0 0,27 0 16,-1 0-16,1 0 0,-27 0 16,0 0-16,1 0 0,25 0 15,-26 0-15,0 0 16,1 0-16,-1 0 0,0 0 0,0 0 15,27 0-15,-27 0 0,0 0 16,1 0-16,-1 0 0,0 0 0,27 0 16,-1 0-16,-26 0 0,27 0 15,-1 0-15,-26 0 0,27 0 0,-27 0 16,27 0-16,-1 0 0,-26 0 16,27 0-16,-1 0 0,1 0 15,-1 0-15,1 0 0,-1 0 0,1 0 0,-27 0 16,26 0-16,1 0 0,-1 0 0,1 0 0,-27 0 15,27 0-15,-27 0 0,26 0 16,1 0-16,-27 0 0,27 0 0,-27 0 16,0 0-16,27 0 0,-27 0 0,0 0 15,0 0-15,27 0 0,-27 0 16,0 0-16,0 0 16,1 0-1,-1 0-15,0 0 16,0 0-16,1 0 0,-1 0 0,0 0 0,0 0 15,1 0 1,-1 0-16,0 0 16,0 0-16,1 0 15,-1 0-15,0 0 16,0 0-16,1 0 16,-1 0-1,0 0-15,0 0 0,0 0 16,1 0-16,-1 0 15,0 0-15,0 0 16,1 0-16,-1 0 16,0 0-16,0 0 15,1 0 1,-1 0-16,0 0 16,0 0-16,1 0 0,-1 0 0,26 0 0,1 0 0,26 0 15,-27 0-15,-26 0 16,27 0-16,-1 26 0,-26-26 0,27 0 0,-27 0 0,0 0 15,27 0 1,-1 0-16,-25 0 16,-1 0-16,26 0 0,1 0 15,-1 0-15,-26 0 0,27 0 16,-1 0-16,-25 0 16,25 0-16,-26 0 0,1 0 15,-1 0-15,0 0 0,0 0 16,1 0-16,-1 0 0,0 0 15,0 0-15,1 0 0,-1 0 16,0 0-16,0 0 0,1 0 16,-1 0-16,0 0 0,0-26 15,0 26-15,1 0 16,25 0-16,-26 0 0,1 0 16,-1 0-16,0 0 0,0 0 0,1 0 15,-1 0-15,0 0 16,0 0-16,1 0 0,-1 0 15,0 0-15,0 0 16,1 0-16,-1 0 0,0 0 16,0 0-16,1 0 0,25 0 15,0 0-15,-25 0 0,-1 0 16,26 0-16,-25 0 0,25 0 0,-26 0 16,1 0-16,-1 0 0,0 0 15,27 0-15,-27 0 0,0 0 0,0 0 16,1 0-16,25 0 0,-26 0 0,1 0 15,25 0-15,-26 0 0,0 0 0,1 0 16,-1 0-16,0 0 0,0 0 0,1 0 16,-1 0-16,0 0 0,0 0 0,1 0 15,-1 26-15,0-26 0,0 0 0,1 0 16,-1 0-16,0 0 0,0 0 16,1 0-16,-1 0 0,0 0 15,0 0-15,1 0 0,-1 0 0,0 0 16,0 0-16,27 27 0,-27-27 15,0 0-15,0 0 0,1 0 0,-1 0 16,0 26-16,0-26 0,1 0 16,-1 0-1,0 0-15,0 0 0,1 0 16,-1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21T04:16:15.02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19706 4461 0,'53'0'219,"-27"0"-203,26 0-16,-25 0 0,-1 0 0,26 0 15,-25 0-15,-1 26 0,0-26 0,0 26 16,27-26-16,-1 26 0,-25-26 0,-1 26 15,0-26-15,0 0 0,27 0 0,-1 27 16,1-1 0,-27-26-16,53 26 0,-27 0 0,-26-26 15,27 27-15,-1-27 0,1 26 0,-1-26 0,1 0 0,25 26 16,-51 0-16,-1-26 0,0 27 16,27-27-16,-1 26 15,1 0-15,-1-26 0,-26 0 16,1 26-16,-1-26 0,0 27 0,0-27 0,1 0 15,-27 26-15,52-26 0,-52 26 16,26 0-16,0-26 0,1 0 0,-27 27 0,26-27 16,0 26-16,0-26 0,1 26 15,-1-26-15,-26 26 0,26 1 16,0-27-16,1 26 16,-1 0-16,0-26 0,0 0 15,1 26-15,-27 0 0,26 1 16,0-27-1,0 0 1,-26 26-16,27-26 0,-27 26 0,26-26 0,0 26 47,0 1-47,-26-1 0,27-26 0,-1 0 16,-26 26-16,26-26 0,-26 26 31,0 1-16,26-27-15,-26 26 0,26 0 16,1-26 0,-27 26-16,26-26 15,-26 27-15,26-27 0,-26 26 16,26-26-16,-26 26 16,27-26-16,-27 26 0,26 1 15,0-1-15,0-26 16,-26 26-1,27 0-15,-1-26 16,-26 27-16,26-1 16,0 0-16,1-26 15,-27 26-15,26 0 0,0-26 16,-26 27-16,26-1 16,1 0-16,-1-26 15,-26 26-15,26 1 0,0-27 16,-26 26-1,27 0-15,-27 0 0,26-26 16,0 27-16,-26-1 16,26 0-16,0 0 15,-26 1-15,27-27 16,-1 0-16,-26 26 0,0 0 16,26-26-16,0 0 15,-26 26 1,27-26-16,-27 27 47,0-1-32,26-26 1,0 0 0,-26 26-16,0 0 0,26-26 15,1 27-15,-1-1 16,0 0-1,0 0 1,-26 0-16,27-26 16,-1 0-16,0 0 15,0 27 17,1-27-17,-1 26 1,0-26-1,-26-26 360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21T04:16:18.2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19759 4434 0,'26'0'94,"0"0"-63,0 0 0,1 0-31,-1 0 16,0 0-16,0 0 0,1 0 0,-1 0 0,0 0 0,0 0 15,27 0-15,-1 0 0,-25 0 16,25 0-16,0 0 0,-25 0 0,-1 0 16,26 0-16,-25 0 0,-1 0 0,0 0 15,0 0-15,1 0 0,-1 0 16,26 0-16,-25 0 0,25 0 16,1 0-16,-27 0 0,0 0 0,27 0 0,-27 0 0,26 0 15,-26 0-15,1 0 0,-1 0 0,0 0 16,0 0-16,1 0 0,-1 0 15,0 0-15,0 0 16,1 0 0,-1 0-1,0 0 1,0 0 0,1 0-1,-1 0-15,0 0 0,0 0 0,1 0 16,-1 0-16,0 0 15,0 0-15,0 0 16,1 0-16,-1 0 16,0 0-16,0 0 0,1 0 31,-1 0-31,0 0 0,0 0 16,1 0-16,-1 0 0,26 0 15,-25 0-15,-1 0 0,0 0 16,0 0-16,1 0 0,-1 0 15,0 0-15,0 0 16,1 0-16,-1 0 0,0 0 16,0 0-16,0 0 0,1 0 15,-1 0-15,0 0 16,0 0-16,1 0 0,-1 0 0,0 0 16,0 0-16,1 0 0,-1 0 15,0 0-15,0 0 16,1 0-16,-1 0 15,0 0-15,0 0 16,1 0-16,-1 0 0,0 0 16,0 0-16,1 0 15,-1 0 1,0 0-16,0 0 0,0 0 16,1 0-16,-1 0 31,0 0-31,0 0 0,1 0 15,-1 0 1,0 0-16,0 0 16,1 0-1,-1 0 1,0 0 15,0 0 157,1 0-188,-1 0 15,0 0 17,0 0 46,-26 27-63,27-27 17,-27 26-32,26-26 15,-26 26 16,0 0 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21T04:16:22.92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2073 5536 0,'26'0'156,"1"0"-140,-27-26 0,26 26-16,0 0 0,0-26 0,1 26 15,-1-26-15,0 26 16,0 0-16,27 0 0,-53-27 15,52 27-15,-26 0 0,1-26 0,25 26 16,-26 0 0,27-26-16,26 26 0,-53 0 0,26 0 0,27 0 0,-53 0 0,53 0 15,-26 0-15,25 0 0,27 0 0,-26 0 16,-27 0 0,53 0-16,0 0 0,-26 0 15,26 0-15,0 0 0,0 0 0,-26 0 16,26 0-16,0 0 0,0 0 0,-27 0 15,27 0-15,-26 0 0,-27 0 0,27 0 16,0 0-16,-27 0 0,1 0 0,-1 0 16,1 0-16,-1 0 0,-26 0 0,27 0 15,-1 0-15,1 0 0,-1 0 0,1 0 16,-27 0-16,27 0 0,-27 0 0,26 0 16,1 0-16,-27 0 0,26 0 0,-25 0 15,51 0-15,-25 0 0,-1 0 0,1 0 16,26 0-16,-53 0 0,53 0 0,-53 0 15,53 0-15,-27 0 0,0 0 0,1 0 16,-1 0-16,-25 0 0,25 0 0,-26 0 16,27 0-16,-1 0 0,-25 0 0,-1 0 15,26 0-15,-52 26 0,27-26 0,25 0 16,-26 26-16,1-26 0,-1 0 16,26 0-16,1 0 0,-1 0 15,-26 0-15,1 0 0,-1 0 0,26 0 16,-25 0-16,-1 0 0,26 0 0,1 0 15,-1 0-15,1 0 16,-27 0-16,0 0 0,27 0 16,-27 0-16,0 0 0,0 0 0,27 0 15,-27 0-15,0 0 0,27 0 0,-27 0 16,27 0-16,-1 0 0,-26 0 0,27 0 16,-27 0-16,27 0 0,-1 0 0,-26 0 15,53 0-15,-27 0 0,-25 0 0,51 0 16,-25 0-16,-1 0 0,27 0 0,-26 0 15,-1 0-15,27 0 0,-27 0 0,1 0 16,25 0-16,-25 0 0,-1 0 0,27 0 16,-53 0-16,27 0 0,-1 0 0,1 0 15,-1 0-15,-25 0 0,25 27 0,0-27 16,-25 0-16,25 26 0,-26-26 16,27 26-16,-1-26 0,-25 0 0,51 26 15,-25-26-15,-27 27 0,27-27 0,25 26 0,-51-26 16,25 0-16,0 0 0,1 0 15,-1 26-15,1-26 0,-27 0 0,27 26 0,-27-26 16,0 0-16,0 0 0,1 27 16,-1-27-16,26 0 0,-25 0 15,25 0-15,-26 0 0,27 0 16,-27 0-16,0 0 0,0 0 16,1 26-16,-1-26 0,0 0 15,0 0-15,1 0 16,-1 0-16,0 0 0,0 0 0,1 0 15,-1 0-15,0 0 0,0 0 32,1 0-32,-1 0 0,0 0 0,0 0 0,1 0 31,-1 0-31,0 0 0,0 0 16,1 0-1,-1 26 1,0-26-16,0 0 0,0 0 15,1 0-15,-27 26 0,26-26 0,0 0 16,0 0-16,-26 27 0,27-27 0,-1 0 16,0 0-16,0 0 0,1 0 15,-1 0 1,0 0-16,0 26 0,1-26 16,-1 0-16,0 0 0,0 0 15,27 0-15,-27 0 0,0 26 16,0-26-16,1 0 0,-1 0 0,0 0 15,0 0-15,1 0 0,-1 0 0,0 0 0,0 0 32,1 0-32,-1 0 15,0 0-15,0 0 0,1 0 16,-1 0-16,0 0 16,0 0-16,1 0 0,-1 0 15,0 0-15,0 0 0,1 0 16,-1 0-16,0 0 15,26 0-15,-25 0 16,-1-26-16,0 26 0,0 0 16,1 0-16,-1 0 0,0 0 15,0 0-15,1 0 0,-1 0 0,0-26 16,0 26-16,27 0 0,-27 0 16,0 0-16,1 0 0,-1 0 15,0 0-15,0 0 0,1 0 0,25 0 16,-26 0-16,0 0 0,1 0 15,-1 0-15,0 0 0,27 0 16,-27 0-16,0 0 0,0 0 0,27 0 16,-27 0-16,27 0 15,-27 0-15,0 0 0,0 0 0,1 0 16,25 0-16,-26 0 0,1 0 0,25 0 16,-26 0-16,27 0 0,-1 0 15,1 0-15,-27 0 0,0 0 0,27 0 16,-27 0-16,0 0 0,27 0 0,-1 0 15,-26 0-15,27 0 16,-27 0-16,0 0 0,1 0 16,25 0-16,-26 0 15,0 0-15,1 0 0,-1 0 0,0 0 16,0 0-16,1 0 16,-1 0-16,0 0 0,0 0 0,1 0 0,-1 0 15,26 0-15,-25 0 16,-1 0-16,0 0 15,27 0-15,-27 0 0,0 0 16,26 0-16,-25 0 0,-1 0 16,0 0-16,0 0 0,1 0 15,-1 0-15,0 0 16,0 0-16,1 0 0,-1 0 16,0 0-16,0 0 0,1 0 15,-1 0-15,0 0 0,0 0 16,1 0-16,-1 0 15,0 0-15,0 0 0,1 0 16,-1 0-16,0 0 0,0 0 16,0 0-16,1 0 15,-1 0-15,0 0 16,27 0-16,-27 0 0,26 0 16,1 0-16,-27 0 0,27 0 15,-27 0-15,0 0 0,0 0 0,1 0 16,-1 0-16,0 0 0,0 0 0,1 0 15,-1 0-15,0 0 0,0 0 0,0 0 16,1 0-16,25 0 0,1 0 16,-27 0-16,26 0 15,-25 0-15,-1 0 16,0 0-16,0 0 0,1 0 0,-1 0 0,0 0 0,0 0 16,1-27-16,-1 27 0,0 0 15,0-26-15,1 26 0,-1 0 16,0 0-16,0 0 15,0 0-15,1 0 0,-1 0 16,0 0 0,0 0-16,1 0 0,-1 0 15,0 0-15,0 0 0,27 0 0,-1 0 0,-25 0 16,-1 0-16,0 0 16,0 0-16,1 0 0,-1 0 0,0 0 0,27 0 0,-27 0 15,0 0-15,26 0 0,1 0 16,-27 0-16,0 0 0,27 0 15,-1 0 1,1 0-16,-1 0 16,1 0-16,-1 0 0,1 0 15,-27 0-15,0 0 0,27 0 16,-27 0-16,26 0 0,-25 0 16,-1 0-16,0 0 0,0 0 15,1 0-15,-1 0 0,0 0 0,0 0 16,27 0-16,26 0 0,-27 26 0,1-26 15,-27 0-15,0 0 0,26 0 0,1 0 16,26 0-16,-53 0 0,26 0 16,-25 0-16,51 0 0,-25 0 0,-1 0 15,1 0-15,26 0 0,-53 0 0,26 0 16,-26 0-16,27 0 0,26 0 0,-53 0 16,26 0-16,27 0 0,-53 0 0,27 0 15,-27 0-15,27 0 0,-1 0 0,-26 0 16,27 0-16,-1 0 0,1 0 0,-1 0 15,-26 0-15,1 27 0,25-27 0,-26 0 16,1 0-16,-1 0 0,0 0 16,0 0-16,27 0 0,-27 0 15,0 0-15,1 0 16,-1 0-16,0 0 0,27 0 0,-1 0 16,-26 0-16,27 0 0,-1 0 15,1 0-15,-27 0 16,26 0-16,-25 0 0,-1 0 0,26 0 0,-25 0 15,25 0-15,1 0 0,-1 0 0,0 0 16,-25 0-16,-1 0 0,0 0 0,27 0 16,-1 0-16,-26 0 0,1 0 0,-1 0 15,0 0-15,27 0 0,-27 0 16,0 0-16,0 0 0,1 0 16,-1 0-16,0 0 15,0 0-15,1 0 16,-1 0-16,0 0 15,0 0 1,0 0-16,1 26 0,-1-26 0,0 0 0,0 0 16,1 0-16,25 0 0,-26 0 0,27 0 15,-1 0-15,1 0 0,-27 0 16,27 0-16,25 26 16,-51-26-16,-1 0 0,-26 26 15,26-26-15,0 0 16,0 0-1,1 0 1,-1 0-16,0 0 16,0 0-1,1 0-15,-27 26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21T04:16:26.74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1889 6743 0,'27'0'203,"-1"0"-187,26 0-16,-25 0 0,-1 0 0,26 0 0,-25 0 0,25 0 31,27 0-31,-53 0 0,53 0 0,-27 0 16,1 0-16,52 0 0,-79 0 0,79 0 16,-26 0-16,-53 0 0,26 0 0,27 0 15,-53 0-15,27 0 0,25 0 0,-25 0 16,26 0-16,26 0 0,-53 0 0,27 0 15,0 0-15,-27 0 0,27 0 0,-1 0 16,-25 0-16,52 0 0,-26 0 0,-27 0 16,53 0-16,-26 0 0,26 0 0,-53 0 15,53 0-15,-26 0 0,0 0 0,-1 0 16,27 27-16,0-27 0,-26 0 0,0 0 16,26 0-16,0 0 0,-53 0 0,53 0 15,-26 0-15,-1 0 0,1 0 0,0 0 16,-27 0-16,1 0 0,26 0 0,-27 0 15,27 0-15,-27 0 0,1 0 0,25 0 16,-51 0-16,51 0 0,-25 0 0,-1 0 16,1 0-16,-1 0 0,1 0 0,-1 0 15,-25 0-15,51 0 0,-25 0 0,-27 0 16,26 0-16,1 0 0,-27 0 0,27 0 16,-27 0-16,26 0 0,1 0 0,-27 0 15,27 0-15,-27 0 0,26 0 16,1 0-16,-27 0 0,27 0 0,-27 0 0,26 0 15,1 0-15,-1 0 0,1 0 0,-1 0 16,1 0-16,25 0 0,-51 0 0,51 0 16,-25 0-16,-1 0 0,1 0 0,25 0 15,-51 0-15,51 0 16,-51 0-16,51 0 0,-25 0 0,-27 0 0,27 0 0,25 0 16,-51 0-16,25 26 0,27-26 0,-53 0 15,26 0-15,-25 0 16,25 0-16,1 0 0,-27 0 0,26 0 0,1 0 15,-1 0-15,-25 0 0,25 0 0,1 0 16,-1 0-16,-26 0 16,53 0-16,-53 0 0,27 0 0,-1 0 15,-26 0-15,53 0 0,-26 0 0,-27 0 16,53 0-16,-53 0 0,53 0 0,-1 0 0,-52 0 16,53 0-16,0 0 15,-27 0-15,27 0 0,26 0 0,-79 0 0,79-26 0,-26 26 16,0 0-16,-27 0 0,27 0 15,0 0-15,-27 0 0,27 0 0,26 0 0,-53 0 16,1 0-16,25 0 0,-25 0 16,-1 0-16,27 0 0,-26 0 0,25 0 15,-25 0-15,-1 0 0,1 0 0,-1 0 16,27 0-16,0 0 0,-27 0 0,53 0 0,-26 0 16,0 0-1,-27 0-15,1 0 0,-1 0 0,27 0 16,-1 0-16,27 0 0,-52 0 15,26 0-15,-1 0 0,-25 0 0,26 0 0,-1 0 16,-25 0-16,52 0 0,-27 0 0,-25 0 0,52 0 0,-26 0 16,-1 0-16,1 0 0,0 0 0,26 0 15,-53 0-15,27 0 0,26 0 0,-26 0 16,-1 0-16,1 0 0,-27 0 16,53 0-16,-26 0 15,-26 0-15,25 0 0,1 0 0,-26 0 0,25 0 0,1 0 0,-27-27 31,1 27-31,26 0 0,-53 0 0,53 0 0,-27 0 16,-26 0-16,53 0 0,-26 0 16,-27 0-16,26-26 0,1 26 0,-27 0 15,26 0-15,-25 0 0,25 0 0,1 0 16,-1 0-16,-26 0 0,27 0 16,-1 0-16,1-26 0,-1 26 0,27 0 15,-53 0-15,53 0 0,0-26 0,-53 26 16,53 0-16,-1 0 0,-25-27 0,26 27 15,-1-26-15,-25 26 0,25 0 0,1 0 16,-26 0-16,25 0 0,1 0 0,-26 0 16,25 0-16,1 0 0,-26 0 0,25 0 15,-25 0-15,-1 0 0,27 0 0,0 0 16,-53 0-16,53 0 0,-1 0 0,-25 0 16,52 0-16,-27 0 0,-25 0 0,52 0 15,-26 0-15,-1 0 0,-25 0 0,26 0 16,25 0-16,-51 0 0,26 0 0,-1 0 15,-25 0-15,26 0 0,-1 0 0,-25 0 16,-1 0-16,27 0 0,-27 0 0,1 0 16,-27 0-16,53 0 0,-27 0 0,-25 0 15,25-26-15,-26 26 0,1 0 16,25 0-16,-26 0 0,27 0 0,-1 0 16,-25 0-16,25 0 0,0 0 0,1 0 15,-1-26-15,1 26 0,-1 0 0,27 0 16,-53 0-16,53 0 0,-26 0 0,-1 0 15,1 0-15,25 0 0,-52 0 0,27 0 16,-1 0-16,1 0 0,-27 0 0,0 0 16,27 0-16,-27 0 0,27 0 0,-27 0 0,0 0 15,0 0-15,1 0 16,25 0-16,-26 0 0,0 0 0,1 0 0,-1 0 16,26 0-16,-25 0 0,-1 0 0,26 0 15,-25 0-15,25 0 0,1 0 0,-27 0 16,26 0-16,-25 0 0,25 0 15,1 0-15,-27 0 0,26 0 0,-26 0 16,27 0-16,-1 0 0,1 0 16,-27 0-16,0 0 15,1 0-15,-1 26 0,0-26 0,27 0 0,-1 0 0,-26 0 16,1 0-16,-1 0 0,0 0 16,0 0-16,1 26 0,-1-26 15,26 0-15,-26 0 16,1 0-16,-1 0 0,-26 26 15,26-26-15,0 0 16,1 0-16,-1 0 16,0 0-1,0 0-15,1 0 0,-1 0 16,0 0-16,0 0 0,1 0 16,-1 0-16,0 0 15,0 0-15,1 0 16,-1 0-16,0 0 15,0 0-15,1 0 0,-1 0 16,0 0-16,0 0 0,0 0 16,1 0-16,-1 0 15,0 0 1,0 0-16,1 0 31,-1 0-15,0 0 31,0 0-47,1 0 15,-1 0 1,0 0-16,-26 27 0,26-27 16,1 0-1,-1 0-15,0 0 16,0 0-16,1 0 15,-1 0 1,0 0-16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E9092-E9D5-44CA-9B62-CF6174EC09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E412CA-7BCE-4F7D-86BE-15D8BDD32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325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to orient learners. Mention duration and expected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stakeholders: AP team, procurement, finance, devops.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Optionally draw a diagram on whiteboard — this slide lists components for code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step becomes a hands-on exercise in the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how to make prompts explicit about frameworks, versions, edge-cases and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fields and use in FastAPI request 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improvements: layout analysis, table parsers, ML-based key-value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participants to allow Copilot to suggest improvements and security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a sample pytest file generated by Copilot during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Copilot is an assistant, not substitute for security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 assumes 90-120 minute lab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Provide sample grading sheet and give feedback tips.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learners to treat Copilot output as draft requiring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Provide links in the repo or LMS — not in PPT.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GenAI in </a:t>
            </a:r>
            <a:r>
              <a:rPr dirty="0">
                <a:solidFill>
                  <a:srgbClr val="FF0000"/>
                </a:solidFill>
              </a:rPr>
              <a:t>Digital </a:t>
            </a:r>
            <a:r>
              <a:rPr dirty="0"/>
              <a:t>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dirty="0"/>
              <a:t>Overview  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dirty="0"/>
              <a:t>MS Copilot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dirty="0"/>
              <a:t>GitHub Copilot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dirty="0" err="1"/>
              <a:t>LibreChat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769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9769"/>
            <a:ext cx="8229600" cy="1025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Comparison of MS Copilot, GitHub Copilot, </a:t>
            </a:r>
            <a:r>
              <a:rPr sz="2800" dirty="0" err="1"/>
              <a:t>LibreChat</a:t>
            </a:r>
            <a:endParaRPr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6A1C9E-2FF2-EB94-DAF2-E6A2AD964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71" y="2009930"/>
            <a:ext cx="868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goal is to help learners understand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when to use which tool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value each one provides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2E33BBC-5C0F-50CC-A6AE-460B97618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71" y="2855226"/>
            <a:ext cx="8253029" cy="3359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Learners Choose the Right Tool for the Right Job</a:t>
            </a:r>
            <a:endParaRPr lang="en-US" altLang="en-US" sz="2400" dirty="0"/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GB" sz="2400" dirty="0"/>
              <a:t>Shows the Difference Between Proprietary &amp; Open-Source AI</a:t>
            </a:r>
          </a:p>
          <a:p>
            <a:pPr marL="457200" lvl="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IN" sz="2400" dirty="0"/>
              <a:t>Builds Decision-Making Skills</a:t>
            </a:r>
          </a:p>
          <a:p>
            <a:pPr marL="457200" lvl="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GB" sz="2400" dirty="0"/>
              <a:t>Helps Them Understand Strengths &amp; Weaknesses</a:t>
            </a:r>
          </a:p>
          <a:p>
            <a:pPr marL="457200" lvl="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GB" sz="2400" dirty="0"/>
              <a:t>Makes the Learning More Practical &amp; Real-World</a:t>
            </a:r>
          </a:p>
          <a:p>
            <a:pPr marL="457200" lvl="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IN" sz="2400" dirty="0"/>
              <a:t>Encourages Exploration &amp; Hands-On Learning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84191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MS Copilot: AI for Microsoft 365, Windows, Edge, Azure.</a:t>
            </a:r>
          </a:p>
          <a:p>
            <a:r>
              <a:t>- GitHub Copilot: AI coding assistant for developers.</a:t>
            </a:r>
          </a:p>
          <a:p>
            <a:r>
              <a:t>- LibreChat: Open‑source ChatGPT-like assistant, self-hosted.</a:t>
            </a:r>
          </a:p>
        </p:txBody>
      </p:sp>
    </p:spTree>
    <p:extLst>
      <p:ext uri="{BB962C8B-B14F-4D97-AF65-F5344CB8AC3E}">
        <p14:creationId xmlns:p14="http://schemas.microsoft.com/office/powerpoint/2010/main" val="3668646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Purpose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MS Copilot:</a:t>
            </a:r>
          </a:p>
          <a:p>
            <a:r>
              <a:t>- Productivity automation (Word, Excel, PPT, Outlook).</a:t>
            </a:r>
          </a:p>
          <a:p>
            <a:r>
              <a:t>GitHub Copilot:</a:t>
            </a:r>
          </a:p>
          <a:p>
            <a:r>
              <a:t>- Code generation, refactoring, IDE automation.</a:t>
            </a:r>
          </a:p>
          <a:p>
            <a:r>
              <a:t>LibreChat:</a:t>
            </a:r>
          </a:p>
          <a:p>
            <a:r>
              <a:t>- Private deployments, custom LLM integrations.</a:t>
            </a:r>
          </a:p>
        </p:txBody>
      </p:sp>
    </p:spTree>
    <p:extLst>
      <p:ext uri="{BB962C8B-B14F-4D97-AF65-F5344CB8AC3E}">
        <p14:creationId xmlns:p14="http://schemas.microsoft.com/office/powerpoint/2010/main" val="1094384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 Copilot:</a:t>
            </a:r>
          </a:p>
          <a:p>
            <a:r>
              <a:t>- Deep integration with Office &amp; Microsoft Graph.</a:t>
            </a:r>
          </a:p>
          <a:p>
            <a:r>
              <a:t>GitHub Copilot:</a:t>
            </a:r>
          </a:p>
          <a:p>
            <a:r>
              <a:t>- Works inside VS Code, JetBrains, GitHub.</a:t>
            </a:r>
          </a:p>
          <a:p>
            <a:r>
              <a:t>LibreChat:</a:t>
            </a:r>
          </a:p>
          <a:p>
            <a:r>
              <a:t>- Works via web UI/API, customizable with any model.</a:t>
            </a:r>
          </a:p>
        </p:txBody>
      </p:sp>
    </p:spTree>
    <p:extLst>
      <p:ext uri="{BB962C8B-B14F-4D97-AF65-F5344CB8AC3E}">
        <p14:creationId xmlns:p14="http://schemas.microsoft.com/office/powerpoint/2010/main" val="3026837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Data Privacy &amp;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 Copilot:</a:t>
            </a:r>
          </a:p>
          <a:p>
            <a:r>
              <a:t>- Cloud-based with enterprise controls.</a:t>
            </a:r>
          </a:p>
          <a:p>
            <a:r>
              <a:t>GitHub Copilot:</a:t>
            </a:r>
          </a:p>
          <a:p>
            <a:r>
              <a:t>- Cloud processing, code privacy assured.</a:t>
            </a:r>
          </a:p>
          <a:p>
            <a:r>
              <a:t>LibreChat:</a:t>
            </a:r>
          </a:p>
          <a:p>
            <a:r>
              <a:t>- Fully private, can run locally or on-prem.</a:t>
            </a:r>
          </a:p>
        </p:txBody>
      </p:sp>
    </p:spTree>
    <p:extLst>
      <p:ext uri="{BB962C8B-B14F-4D97-AF65-F5344CB8AC3E}">
        <p14:creationId xmlns:p14="http://schemas.microsoft.com/office/powerpoint/2010/main" val="1057445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Licensing &amp;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 Copilot: $20–$30/user/month.</a:t>
            </a:r>
          </a:p>
          <a:p>
            <a:r>
              <a:t>GitHub Copilot: $10–$19/month.</a:t>
            </a:r>
          </a:p>
          <a:p>
            <a:r>
              <a:t>LibreChat: Free (bring your own model/API).</a:t>
            </a:r>
          </a:p>
        </p:txBody>
      </p:sp>
    </p:spTree>
    <p:extLst>
      <p:ext uri="{BB962C8B-B14F-4D97-AF65-F5344CB8AC3E}">
        <p14:creationId xmlns:p14="http://schemas.microsoft.com/office/powerpoint/2010/main" val="2923375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Strengths &amp;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 Copilot: Strong for productivity, weak for coding.</a:t>
            </a:r>
          </a:p>
          <a:p>
            <a:r>
              <a:t>GitHub Copilot: Strong for coding, weak for Office tasks.</a:t>
            </a:r>
          </a:p>
          <a:p>
            <a:r>
              <a:t>LibreChat: Strong for privacy &amp; customization, weak on integrations.</a:t>
            </a:r>
          </a:p>
        </p:txBody>
      </p:sp>
    </p:spTree>
    <p:extLst>
      <p:ext uri="{BB962C8B-B14F-4D97-AF65-F5344CB8AC3E}">
        <p14:creationId xmlns:p14="http://schemas.microsoft.com/office/powerpoint/2010/main" val="2808424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When to Use Which?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MS Copilot for business tasks.</a:t>
            </a:r>
          </a:p>
          <a:p>
            <a:r>
              <a:t>Use GitHub Copilot for coding.</a:t>
            </a:r>
          </a:p>
          <a:p>
            <a:r>
              <a:t>Use LibreChat for private/self-hosted AI.</a:t>
            </a:r>
          </a:p>
        </p:txBody>
      </p:sp>
    </p:spTree>
    <p:extLst>
      <p:ext uri="{BB962C8B-B14F-4D97-AF65-F5344CB8AC3E}">
        <p14:creationId xmlns:p14="http://schemas.microsoft.com/office/powerpoint/2010/main" val="1064580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32A1F-166B-995C-1152-5505765F0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2A82-F443-CDFF-C25A-164A29475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541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MS Copilot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6591-7DDC-39A4-030F-05249CC41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50231"/>
            <a:ext cx="8229600" cy="48300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1" dirty="0"/>
              <a:t>What is Copilot?</a:t>
            </a:r>
          </a:p>
          <a:p>
            <a:r>
              <a:rPr lang="en-GB" sz="2400" dirty="0"/>
              <a:t>Microsoft Copilot is an AI-powered productivity assistant from Microsoft, built on large-language models (LLMs) and integrated deeply in Microsoft’s ecosystem (Office/Microsoft 365, Windows, etc.). </a:t>
            </a:r>
          </a:p>
          <a:p>
            <a:r>
              <a:rPr lang="en-GB" sz="2400" dirty="0"/>
              <a:t>It is positioned as a “co-pilot for work” rather than just a chatbot — meaning the goal is to enhance creativity, productivity, decision support. </a:t>
            </a:r>
          </a:p>
          <a:p>
            <a:r>
              <a:rPr lang="en-GB" sz="2400" dirty="0"/>
              <a:t>For enterprises it integrates with organisational data (via Microsoft Graph, user’s apps/services) so it can act context-aware. </a:t>
            </a:r>
          </a:p>
          <a:p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83772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675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MS Copilot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076"/>
            <a:ext cx="8229600" cy="699940"/>
          </a:xfrm>
        </p:spPr>
        <p:txBody>
          <a:bodyPr>
            <a:normAutofit/>
          </a:bodyPr>
          <a:lstStyle/>
          <a:p>
            <a:r>
              <a:rPr sz="2400" b="1" dirty="0"/>
              <a:t>Features, integrations, use cases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506E15-62F0-D9FF-D673-7A95A231F24D}"/>
              </a:ext>
            </a:extLst>
          </p:cNvPr>
          <p:cNvSpPr txBox="1"/>
          <p:nvPr/>
        </p:nvSpPr>
        <p:spPr>
          <a:xfrm>
            <a:off x="358219" y="1766016"/>
            <a:ext cx="858781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Key Features</a:t>
            </a:r>
          </a:p>
          <a:p>
            <a:pPr>
              <a:buNone/>
            </a:pPr>
            <a:r>
              <a:rPr lang="en-GB" dirty="0"/>
              <a:t>Here are some of the standout features, especially relevant for enterprise &amp; training contexts:</a:t>
            </a:r>
          </a:p>
          <a:p>
            <a:pPr>
              <a:buNone/>
            </a:pPr>
            <a:r>
              <a:rPr lang="en-GB" b="1" dirty="0"/>
              <a:t>Productivity &amp; Content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apps like Microsoft Word / Excel / PowerPoint: Copilot can draft text, summarise documents, generate slides from prompts, suggest data-analysis in Excel (charts, formulas) etc. It offers natural-language search across your Microsoft 365 content — e.g., you ask “show me all the emails and files about project X” and it finds them. </a:t>
            </a:r>
            <a:r>
              <a:rPr lang="en-GB" b="1" dirty="0"/>
              <a:t>Chat and Agent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Copilot Chat: interactive chat interface within Microsoft 365 that allows you to ask questions, seek insights, get summarisation, ask for tasks.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Agents: based on the same foundation, it can act on behalf of a user (or assist) in workflows.</a:t>
            </a:r>
          </a:p>
          <a:p>
            <a:pPr>
              <a:buNone/>
            </a:pPr>
            <a:r>
              <a:rPr lang="en-GB" b="1" dirty="0"/>
              <a:t>Context &amp;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Because it leverages Microsoft Graph (which contains user’s enterprise data: documents, emails, calendar, chats), it can bring context: who you are, what you have, what you did. This makes it more than generic “chatbot”.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Works across platforms: Microsoft 365 apps, Windows integration, etc.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Lab: MS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Hands-on steps to use MS Copilot in Microsoft 365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061" y="1615635"/>
            <a:ext cx="5830818" cy="1102806"/>
          </a:xfrm>
        </p:spPr>
        <p:txBody>
          <a:bodyPr>
            <a:normAutofit fontScale="90000"/>
          </a:bodyPr>
          <a:lstStyle/>
          <a:p>
            <a:r>
              <a:rPr dirty="0"/>
              <a:t>Hands‑on: </a:t>
            </a:r>
            <a:r>
              <a:rPr b="1" dirty="0">
                <a:solidFill>
                  <a:srgbClr val="FF0000"/>
                </a:solidFill>
              </a:rPr>
              <a:t>Microsoft Copilot in Microsoft 365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8545" y="3173428"/>
            <a:ext cx="4801850" cy="1314792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Step‑by‑step guide for learners — Practical labs &amp; prompts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Understand prerequisites &amp; licensing for Microsoft Copilot</a:t>
            </a:r>
          </a:p>
          <a:p>
            <a:pPr>
              <a:defRPr sz="2000"/>
            </a:pPr>
            <a:r>
              <a:t>Enable and access Copilot across Word, Excel, PowerPoint, Outlook, and Teams</a:t>
            </a:r>
          </a:p>
          <a:p>
            <a:pPr>
              <a:defRPr sz="2000"/>
            </a:pPr>
            <a:r>
              <a:t>Run hands‑on examples and sample prompts</a:t>
            </a:r>
          </a:p>
          <a:p>
            <a:pPr>
              <a:defRPr sz="2000"/>
            </a:pPr>
            <a:r>
              <a:t>Configure governance, permissions and troubleshoot common issues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Microsoft 365 Business/Enterprise license with Copilot add‑on (verify with admin)</a:t>
            </a:r>
          </a:p>
          <a:p>
            <a:pPr>
              <a:defRPr sz="2000"/>
            </a:pPr>
            <a:r>
              <a:t>Global/IT admin access to Microsoft 365 Admin Center for enablement steps</a:t>
            </a:r>
          </a:p>
          <a:p>
            <a:pPr>
              <a:defRPr sz="2000"/>
            </a:pPr>
            <a:r>
              <a:t>Users with Microsoft 365 accounts and sign‑in access</a:t>
            </a:r>
          </a:p>
          <a:p>
            <a:pPr>
              <a:defRPr sz="2000"/>
            </a:pPr>
            <a:r>
              <a:t>Recommended: Enroll test users and a pilot group (5–10 users)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231" y="1983205"/>
            <a:ext cx="8578392" cy="1102806"/>
          </a:xfrm>
        </p:spPr>
        <p:txBody>
          <a:bodyPr>
            <a:normAutofit fontScale="90000"/>
          </a:bodyPr>
          <a:lstStyle/>
          <a:p>
            <a:r>
              <a:rPr dirty="0"/>
              <a:t>GitHub Copilot Lab — Practical, Business‑Level </a:t>
            </a:r>
            <a:r>
              <a:rPr dirty="0">
                <a:solidFill>
                  <a:srgbClr val="FF0000"/>
                </a:solidFill>
              </a:rPr>
              <a:t>Use Case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968" y="3262809"/>
            <a:ext cx="7521013" cy="1314792"/>
          </a:xfrm>
        </p:spPr>
        <p:txBody>
          <a:bodyPr>
            <a:normAutofit fontScale="92500"/>
          </a:bodyPr>
          <a:lstStyle/>
          <a:p>
            <a:r>
              <a:rPr dirty="0"/>
              <a:t>Complex real-world scenario, step-by-step walkthrough, code prompts, CI/CD &amp; security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259083"/>
            <a:ext cx="6173808" cy="857473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1355"/>
            <a:ext cx="8229600" cy="4525963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1. Business use case overview</a:t>
            </a:r>
          </a:p>
          <a:p>
            <a:pPr>
              <a:defRPr sz="1800"/>
            </a:pPr>
            <a:r>
              <a:rPr sz="2400" dirty="0"/>
              <a:t>2. Architecture &amp; workflow</a:t>
            </a:r>
          </a:p>
          <a:p>
            <a:pPr>
              <a:defRPr sz="1800"/>
            </a:pPr>
            <a:r>
              <a:rPr sz="2400" dirty="0"/>
              <a:t>3. Step-by-step lab tasks (7 steps)</a:t>
            </a:r>
          </a:p>
          <a:p>
            <a:pPr>
              <a:defRPr sz="1800"/>
            </a:pPr>
            <a:r>
              <a:rPr sz="2400" dirty="0"/>
              <a:t>4. Copilot prompt patterns &amp; examples</a:t>
            </a:r>
          </a:p>
          <a:p>
            <a:pPr>
              <a:defRPr sz="1800"/>
            </a:pPr>
            <a:r>
              <a:rPr sz="2400" dirty="0"/>
              <a:t>5. Example code snippets and guided edits</a:t>
            </a:r>
          </a:p>
          <a:p>
            <a:pPr>
              <a:defRPr sz="1800"/>
            </a:pPr>
            <a:r>
              <a:rPr sz="2400" dirty="0"/>
              <a:t>6. GitHub integration, Actions and testing</a:t>
            </a:r>
          </a:p>
          <a:p>
            <a:pPr>
              <a:defRPr sz="1800"/>
            </a:pPr>
            <a:r>
              <a:rPr sz="2400" dirty="0"/>
              <a:t>7. Security, compliance, and practical tips</a:t>
            </a:r>
          </a:p>
          <a:p>
            <a:pPr>
              <a:defRPr sz="1800"/>
            </a:pPr>
            <a:r>
              <a:rPr sz="2400" dirty="0"/>
              <a:t>8. Exercises, assessment and further resources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083" y="117835"/>
            <a:ext cx="7393833" cy="1716502"/>
          </a:xfrm>
        </p:spPr>
        <p:txBody>
          <a:bodyPr>
            <a:normAutofit/>
          </a:bodyPr>
          <a:lstStyle/>
          <a:p>
            <a:r>
              <a:rPr dirty="0"/>
              <a:t>Real-world Business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792" y="2057043"/>
            <a:ext cx="8465270" cy="4683122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2800" dirty="0"/>
              <a:t>Use case: </a:t>
            </a:r>
            <a:r>
              <a:rPr sz="2800" dirty="0">
                <a:solidFill>
                  <a:srgbClr val="FF0000"/>
                </a:solidFill>
              </a:rPr>
              <a:t>'Smart Invoice Processing + Fraud Detection </a:t>
            </a:r>
            <a:r>
              <a:rPr sz="2800" dirty="0"/>
              <a:t>for a mid-size logistics company'</a:t>
            </a:r>
            <a:endParaRPr lang="en-GB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>
                <a:solidFill>
                  <a:srgbClr val="FF0000"/>
                </a:solidFill>
              </a:rPr>
              <a:t>Goal</a:t>
            </a:r>
            <a:r>
              <a:rPr sz="2800" dirty="0"/>
              <a:t>: automate ingestion of vendor invoices (PDF/CSV), extract fields, validate against POs, flag anomalies, update accounting and trigger payments.</a:t>
            </a:r>
            <a:endParaRPr lang="en-GB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>
                <a:solidFill>
                  <a:srgbClr val="FF0000"/>
                </a:solidFill>
              </a:rPr>
              <a:t>Business value</a:t>
            </a:r>
            <a:r>
              <a:rPr sz="2800" dirty="0"/>
              <a:t>: reduce manual effort, faster turn-around, fewer payment errors, better cashflow visibility.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4551" y="137377"/>
            <a:ext cx="6173808" cy="857473"/>
          </a:xfrm>
        </p:spPr>
        <p:txBody>
          <a:bodyPr/>
          <a:lstStyle/>
          <a:p>
            <a:r>
              <a:rPr dirty="0"/>
              <a:t>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645" y="1123790"/>
            <a:ext cx="8535934" cy="5163888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2400" dirty="0">
                <a:solidFill>
                  <a:srgbClr val="FF0000"/>
                </a:solidFill>
              </a:rPr>
              <a:t>High-level architecture</a:t>
            </a:r>
            <a:r>
              <a:rPr sz="2400" dirty="0"/>
              <a:t>:</a:t>
            </a:r>
          </a:p>
          <a:p>
            <a:pPr>
              <a:defRPr sz="1800"/>
            </a:pPr>
            <a:r>
              <a:rPr sz="2400" dirty="0"/>
              <a:t>- Ingest: S3-compatible storage (object store) or blob + event trigger (S3 PUT or Azure Blob event)</a:t>
            </a:r>
          </a:p>
          <a:p>
            <a:pPr>
              <a:defRPr sz="1800"/>
            </a:pPr>
            <a:r>
              <a:rPr sz="2400" dirty="0"/>
              <a:t>- Extract: OCR (Tesseract or cloud OCR) + layout parsing service</a:t>
            </a:r>
          </a:p>
          <a:p>
            <a:pPr>
              <a:defRPr sz="1800"/>
            </a:pPr>
            <a:r>
              <a:rPr sz="2400" dirty="0"/>
              <a:t>- Transform: Normalizer microservice (Python </a:t>
            </a:r>
            <a:r>
              <a:rPr sz="2400" dirty="0" err="1"/>
              <a:t>FastAPI</a:t>
            </a:r>
            <a:r>
              <a:rPr sz="2400" dirty="0"/>
              <a:t>) using LLM-assisted field mapping</a:t>
            </a:r>
          </a:p>
          <a:p>
            <a:pPr>
              <a:defRPr sz="1800"/>
            </a:pPr>
            <a:r>
              <a:rPr sz="2400" dirty="0"/>
              <a:t>- Validate: Rules engine + ML anomaly detector (</a:t>
            </a:r>
            <a:r>
              <a:rPr sz="2400" dirty="0" err="1"/>
              <a:t>sklearn</a:t>
            </a:r>
            <a:r>
              <a:rPr sz="2400" dirty="0"/>
              <a:t>/</a:t>
            </a:r>
            <a:r>
              <a:rPr sz="2400" dirty="0" err="1"/>
              <a:t>xgboost</a:t>
            </a:r>
            <a:r>
              <a:rPr sz="2400" dirty="0"/>
              <a:t>)</a:t>
            </a:r>
          </a:p>
          <a:p>
            <a:pPr>
              <a:defRPr sz="1800"/>
            </a:pPr>
            <a:r>
              <a:rPr sz="2400" dirty="0"/>
              <a:t>- Persist: PostgreSQL accounting schema + message queue (RabbitMQ)</a:t>
            </a:r>
          </a:p>
          <a:p>
            <a:pPr>
              <a:defRPr sz="1800"/>
            </a:pPr>
            <a:r>
              <a:rPr sz="2400" dirty="0"/>
              <a:t>- Orchestration: GitHub repo for code; Actions for CI/CD; Docker images pushed to registry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F2B60BD-879D-0362-F4DC-D7A627B73F51}"/>
                  </a:ext>
                </a:extLst>
              </p14:cNvPr>
              <p14:cNvContentPartPr/>
              <p14:nvPr/>
            </p14:nvContentPartPr>
            <p14:xfrm>
              <a:off x="897480" y="1974240"/>
              <a:ext cx="1256760" cy="3646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F2B60BD-879D-0362-F4DC-D7A627B73F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8120" y="1964880"/>
                <a:ext cx="1275480" cy="3665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4774" y="61222"/>
            <a:ext cx="6173808" cy="857473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FF0000"/>
                </a:solidFill>
              </a:rPr>
              <a:t>Lab</a:t>
            </a:r>
            <a:r>
              <a:rPr dirty="0"/>
              <a:t> Step-by-step Overview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90" y="932415"/>
            <a:ext cx="8631308" cy="5472679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2000" dirty="0">
                <a:solidFill>
                  <a:srgbClr val="FF0000"/>
                </a:solidFill>
              </a:rPr>
              <a:t>Step 0 </a:t>
            </a:r>
            <a:r>
              <a:rPr sz="2000" dirty="0"/>
              <a:t>— Prep: GitHub repo, Copilot enabled in user IDE, sample invoice dataset (CSV + PDF samples)</a:t>
            </a:r>
          </a:p>
          <a:p>
            <a:pPr>
              <a:defRPr sz="1800"/>
            </a:pPr>
            <a:r>
              <a:rPr sz="2000" dirty="0">
                <a:solidFill>
                  <a:srgbClr val="FF0000"/>
                </a:solidFill>
              </a:rPr>
              <a:t>Step 1 </a:t>
            </a:r>
            <a:r>
              <a:rPr sz="2000" dirty="0"/>
              <a:t>— Ingestion service scaffold (</a:t>
            </a:r>
            <a:r>
              <a:rPr sz="2000" dirty="0" err="1"/>
              <a:t>FastAPI</a:t>
            </a:r>
            <a:r>
              <a:rPr sz="2000" dirty="0"/>
              <a:t>) — generate endpoints and event handler using Copilot</a:t>
            </a:r>
          </a:p>
          <a:p>
            <a:pPr>
              <a:defRPr sz="1800"/>
            </a:pPr>
            <a:r>
              <a:rPr sz="2000" dirty="0">
                <a:solidFill>
                  <a:srgbClr val="FF0000"/>
                </a:solidFill>
              </a:rPr>
              <a:t>Step 2 </a:t>
            </a:r>
            <a:r>
              <a:rPr sz="2000" dirty="0"/>
              <a:t>— Extraction pipeline — OCR + field mapping; use Copilot to create parsing helpers and regexes</a:t>
            </a:r>
          </a:p>
          <a:p>
            <a:pPr>
              <a:defRPr sz="1800"/>
            </a:pPr>
            <a:r>
              <a:rPr sz="2000" dirty="0">
                <a:solidFill>
                  <a:srgbClr val="FF0000"/>
                </a:solidFill>
              </a:rPr>
              <a:t>Step 3 </a:t>
            </a:r>
            <a:r>
              <a:rPr sz="2000" dirty="0"/>
              <a:t>— Normalization &amp; schema mapping — create </a:t>
            </a:r>
            <a:r>
              <a:rPr sz="2000" dirty="0" err="1"/>
              <a:t>Pydantic</a:t>
            </a:r>
            <a:r>
              <a:rPr sz="2000" dirty="0"/>
              <a:t> models; use Copilot to suggest models and validation</a:t>
            </a:r>
          </a:p>
          <a:p>
            <a:pPr>
              <a:defRPr sz="1800"/>
            </a:pPr>
            <a:r>
              <a:rPr sz="2000" dirty="0">
                <a:solidFill>
                  <a:srgbClr val="FF0000"/>
                </a:solidFill>
              </a:rPr>
              <a:t>Step 4 </a:t>
            </a:r>
            <a:r>
              <a:rPr sz="2000" dirty="0"/>
              <a:t>— Validation &amp; anomaly detection — implement rule checks and a small XGBoost/</a:t>
            </a:r>
            <a:r>
              <a:rPr sz="2000" dirty="0" err="1"/>
              <a:t>LightGBM</a:t>
            </a:r>
            <a:r>
              <a:rPr sz="2000" dirty="0"/>
              <a:t> model; Copilot for training script</a:t>
            </a:r>
          </a:p>
          <a:p>
            <a:pPr>
              <a:defRPr sz="1800"/>
            </a:pPr>
            <a:r>
              <a:rPr sz="2000" dirty="0">
                <a:solidFill>
                  <a:srgbClr val="FF0000"/>
                </a:solidFill>
              </a:rPr>
              <a:t>Step 5 </a:t>
            </a:r>
            <a:r>
              <a:rPr sz="2000" dirty="0"/>
              <a:t>— Integration &amp; tests — write unit tests, contract tests, and sample integration tests; Copilot to scaffold pytest tests</a:t>
            </a:r>
          </a:p>
          <a:p>
            <a:pPr>
              <a:defRPr sz="1800"/>
            </a:pPr>
            <a:r>
              <a:rPr sz="2000" dirty="0">
                <a:solidFill>
                  <a:srgbClr val="FF0000"/>
                </a:solidFill>
              </a:rPr>
              <a:t>Step 6 </a:t>
            </a:r>
            <a:r>
              <a:rPr sz="2000" dirty="0"/>
              <a:t>— CI/CD — GitHub Actions for lint, tests, build, containerize, and deploy to staging; Copilot to author workflow YAML</a:t>
            </a:r>
          </a:p>
          <a:p>
            <a:pPr>
              <a:defRPr sz="1800"/>
            </a:pPr>
            <a:r>
              <a:rPr sz="2000" dirty="0">
                <a:solidFill>
                  <a:srgbClr val="FF0000"/>
                </a:solidFill>
              </a:rPr>
              <a:t>Step 7 </a:t>
            </a:r>
            <a:r>
              <a:rPr sz="2000" dirty="0"/>
              <a:t>— Monitoring &amp; handover — logs, alerts, and docs. Use Copilot to generate README, runbook and change logs.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615" y="199013"/>
            <a:ext cx="8489869" cy="857473"/>
          </a:xfrm>
        </p:spPr>
        <p:txBody>
          <a:bodyPr/>
          <a:lstStyle/>
          <a:p>
            <a:r>
              <a:rPr dirty="0"/>
              <a:t>Copilot </a:t>
            </a:r>
            <a:r>
              <a:rPr dirty="0">
                <a:solidFill>
                  <a:srgbClr val="FF0000"/>
                </a:solidFill>
              </a:rPr>
              <a:t>Prompt</a:t>
            </a:r>
            <a:r>
              <a:rPr dirty="0"/>
              <a:t> Patterns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799" y="1089056"/>
            <a:ext cx="8868218" cy="5768944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2400" dirty="0"/>
              <a:t>Task: Create a </a:t>
            </a:r>
            <a:r>
              <a:rPr sz="2400" dirty="0" err="1"/>
              <a:t>FastAPI</a:t>
            </a:r>
            <a:r>
              <a:rPr sz="2400" dirty="0"/>
              <a:t> endpoint to receive invoice metadata JSON and store in PostgreSQL using </a:t>
            </a:r>
            <a:r>
              <a:rPr sz="2400" dirty="0" err="1"/>
              <a:t>SQLAlchemy</a:t>
            </a:r>
            <a:r>
              <a:rPr sz="2400" dirty="0"/>
              <a:t>. Prompt: "Create a </a:t>
            </a:r>
            <a:r>
              <a:rPr sz="2400" dirty="0" err="1"/>
              <a:t>FastAPI</a:t>
            </a:r>
            <a:r>
              <a:rPr sz="2400" dirty="0"/>
              <a:t> app with endpoint POST /invoices that accepts invoice JSON, validates with </a:t>
            </a:r>
            <a:r>
              <a:rPr sz="2400" dirty="0" err="1"/>
              <a:t>Pydantic</a:t>
            </a:r>
            <a:r>
              <a:rPr sz="2400" dirty="0"/>
              <a:t> model </a:t>
            </a:r>
            <a:r>
              <a:rPr sz="2400" dirty="0" err="1"/>
              <a:t>InvoiceSchema</a:t>
            </a:r>
            <a:r>
              <a:rPr sz="2400" dirty="0"/>
              <a:t>, and inserts into PostgreSQL via </a:t>
            </a:r>
            <a:r>
              <a:rPr sz="2400" dirty="0" err="1"/>
              <a:t>SQLAlchemy</a:t>
            </a:r>
            <a:r>
              <a:rPr sz="2400" dirty="0"/>
              <a:t> with async session. Include error handling and unit tests using pytest."</a:t>
            </a:r>
          </a:p>
          <a:p>
            <a:pPr>
              <a:defRPr sz="1800"/>
            </a:pPr>
            <a:r>
              <a:rPr sz="2400" dirty="0"/>
              <a:t>Task: Write a function to extract invoice total using regex from OCR text. Prompt: "Write a Python function </a:t>
            </a:r>
            <a:r>
              <a:rPr sz="2400" dirty="0" err="1"/>
              <a:t>extract_total</a:t>
            </a:r>
            <a:r>
              <a:rPr sz="2400" dirty="0"/>
              <a:t>(</a:t>
            </a:r>
            <a:r>
              <a:rPr sz="2400" dirty="0" err="1"/>
              <a:t>ocr_text</a:t>
            </a:r>
            <a:r>
              <a:rPr sz="2400" dirty="0"/>
              <a:t>: str) -&gt; Decimal that returns the invoice total. Use robust patterns for currencies like $, ₹, EUR and handle thousand separators. Include unit tests."</a:t>
            </a:r>
          </a:p>
          <a:p>
            <a:pPr>
              <a:defRPr sz="1800"/>
            </a:pPr>
            <a:r>
              <a:rPr sz="2400" dirty="0"/>
              <a:t>Task: Create GitHub Actions workflow for CI: Prompt: "Create .github/workflows/</a:t>
            </a:r>
            <a:r>
              <a:rPr sz="2400" dirty="0" err="1"/>
              <a:t>ci.yml</a:t>
            </a:r>
            <a:r>
              <a:rPr sz="2400" dirty="0"/>
              <a:t> that runs on PR, sets up Python 3.10, installs deps, runs flake8, pytest, builds docker image and pushes to </a:t>
            </a:r>
            <a:r>
              <a:rPr sz="2400" dirty="0" err="1"/>
              <a:t>ghcr</a:t>
            </a:r>
            <a:r>
              <a:rPr sz="2400" dirty="0"/>
              <a:t> if on main branch. Include secrets usage for registry."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E6523E3-966D-E259-2BF1-2177F56811F6}"/>
                  </a:ext>
                </a:extLst>
              </p14:cNvPr>
              <p14:cNvContentPartPr/>
              <p14:nvPr/>
            </p14:nvContentPartPr>
            <p14:xfrm>
              <a:off x="670680" y="1332000"/>
              <a:ext cx="8143200" cy="113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E6523E3-966D-E259-2BF1-2177F56811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4840" y="1268640"/>
                <a:ext cx="81745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C7459C2-A08C-5CA2-ACBF-F6CE8D65DC2A}"/>
                  </a:ext>
                </a:extLst>
              </p14:cNvPr>
              <p14:cNvContentPartPr/>
              <p14:nvPr/>
            </p14:nvContentPartPr>
            <p14:xfrm>
              <a:off x="7094160" y="1605960"/>
              <a:ext cx="1294560" cy="765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C7459C2-A08C-5CA2-ACBF-F6CE8D65DC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78320" y="1542600"/>
                <a:ext cx="1325880" cy="89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174A025-179A-D184-E69B-9C7BD38D8206}"/>
                  </a:ext>
                </a:extLst>
              </p14:cNvPr>
              <p14:cNvContentPartPr/>
              <p14:nvPr/>
            </p14:nvContentPartPr>
            <p14:xfrm>
              <a:off x="7113240" y="1596240"/>
              <a:ext cx="1266120" cy="38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174A025-179A-D184-E69B-9C7BD38D820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97400" y="1532880"/>
                <a:ext cx="129744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5D80893-DC21-AA37-F27E-D2236D5A1993}"/>
                  </a:ext>
                </a:extLst>
              </p14:cNvPr>
              <p14:cNvContentPartPr/>
              <p14:nvPr/>
            </p14:nvContentPartPr>
            <p14:xfrm>
              <a:off x="746280" y="1936440"/>
              <a:ext cx="7510320" cy="179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5D80893-DC21-AA37-F27E-D2236D5A199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0440" y="1873080"/>
                <a:ext cx="754164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A819F85-4C41-6940-F414-740B0095A21A}"/>
                  </a:ext>
                </a:extLst>
              </p14:cNvPr>
              <p14:cNvContentPartPr/>
              <p14:nvPr/>
            </p14:nvContentPartPr>
            <p14:xfrm>
              <a:off x="680040" y="2361600"/>
              <a:ext cx="7944840" cy="85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A819F85-4C41-6940-F414-740B0095A21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4200" y="2298240"/>
                <a:ext cx="7976160" cy="212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035" y="125294"/>
            <a:ext cx="8144759" cy="857473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0000"/>
                </a:solidFill>
              </a:rPr>
              <a:t>Code Snippet </a:t>
            </a:r>
            <a:r>
              <a:rPr dirty="0"/>
              <a:t>— </a:t>
            </a:r>
            <a:r>
              <a:rPr dirty="0" err="1"/>
              <a:t>Pydantic</a:t>
            </a:r>
            <a:r>
              <a:rPr dirty="0"/>
              <a:t>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119" y="982767"/>
            <a:ext cx="8560589" cy="5050388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2400" dirty="0"/>
              <a:t>Example: </a:t>
            </a:r>
            <a:r>
              <a:rPr sz="2400" dirty="0" err="1"/>
              <a:t>Pydantic</a:t>
            </a:r>
            <a:r>
              <a:rPr sz="2400" dirty="0"/>
              <a:t> model (Invoice)</a:t>
            </a:r>
          </a:p>
          <a:p>
            <a:pPr>
              <a:defRPr sz="1800"/>
            </a:pPr>
            <a:r>
              <a:rPr sz="2400" dirty="0"/>
              <a:t>```python</a:t>
            </a:r>
          </a:p>
          <a:p>
            <a:pPr>
              <a:defRPr sz="1800"/>
            </a:pPr>
            <a:r>
              <a:rPr sz="2400" dirty="0"/>
              <a:t>from </a:t>
            </a:r>
            <a:r>
              <a:rPr sz="2400" dirty="0" err="1"/>
              <a:t>pydantic</a:t>
            </a:r>
            <a:r>
              <a:rPr sz="2400" dirty="0"/>
              <a:t> import </a:t>
            </a:r>
            <a:r>
              <a:rPr sz="2400" dirty="0" err="1"/>
              <a:t>BaseModel</a:t>
            </a:r>
            <a:r>
              <a:rPr sz="2400" dirty="0"/>
              <a:t>, Field</a:t>
            </a:r>
          </a:p>
          <a:p>
            <a:pPr>
              <a:defRPr sz="1800"/>
            </a:pPr>
            <a:r>
              <a:rPr sz="2400" dirty="0"/>
              <a:t>from decimal import Decimal</a:t>
            </a:r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class Invoice(</a:t>
            </a:r>
            <a:r>
              <a:rPr sz="2400" dirty="0" err="1"/>
              <a:t>BaseModel</a:t>
            </a:r>
            <a:r>
              <a:rPr sz="2400" dirty="0"/>
              <a:t>):</a:t>
            </a:r>
          </a:p>
          <a:p>
            <a:pPr>
              <a:defRPr sz="1800"/>
            </a:pPr>
            <a:r>
              <a:rPr sz="2400" dirty="0"/>
              <a:t>    </a:t>
            </a:r>
            <a:r>
              <a:rPr sz="2400" dirty="0" err="1"/>
              <a:t>invoice_id</a:t>
            </a:r>
            <a:r>
              <a:rPr sz="2400" dirty="0"/>
              <a:t>: str = Field(..., description='Vendor invoice number')</a:t>
            </a:r>
          </a:p>
          <a:p>
            <a:pPr>
              <a:defRPr sz="1800"/>
            </a:pPr>
            <a:r>
              <a:rPr sz="2400" dirty="0"/>
              <a:t>    vendor: str</a:t>
            </a:r>
          </a:p>
          <a:p>
            <a:pPr>
              <a:defRPr sz="1800"/>
            </a:pPr>
            <a:r>
              <a:rPr sz="2400" dirty="0"/>
              <a:t>    date: str</a:t>
            </a:r>
          </a:p>
          <a:p>
            <a:pPr>
              <a:defRPr sz="1800"/>
            </a:pPr>
            <a:r>
              <a:rPr sz="2400" dirty="0"/>
              <a:t>    total: Decimal</a:t>
            </a:r>
          </a:p>
          <a:p>
            <a:pPr>
              <a:defRPr sz="1800"/>
            </a:pPr>
            <a:r>
              <a:rPr sz="2400" dirty="0"/>
              <a:t>```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405" y="119391"/>
            <a:ext cx="8518158" cy="857473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Code Snippet </a:t>
            </a:r>
            <a:r>
              <a:rPr dirty="0"/>
              <a:t>— OCR field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405" y="976863"/>
            <a:ext cx="8518158" cy="5339095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2000" dirty="0"/>
              <a:t>Example: </a:t>
            </a:r>
            <a:r>
              <a:rPr sz="2000" dirty="0" err="1"/>
              <a:t>extract_total</a:t>
            </a:r>
            <a:r>
              <a:rPr sz="2000" dirty="0"/>
              <a:t> function (simplified)</a:t>
            </a:r>
          </a:p>
          <a:p>
            <a:pPr>
              <a:defRPr sz="1800"/>
            </a:pPr>
            <a:r>
              <a:rPr sz="2000" dirty="0"/>
              <a:t>```python</a:t>
            </a:r>
          </a:p>
          <a:p>
            <a:pPr>
              <a:defRPr sz="1800"/>
            </a:pPr>
            <a:r>
              <a:rPr sz="2000" dirty="0"/>
              <a:t>import re</a:t>
            </a:r>
          </a:p>
          <a:p>
            <a:pPr>
              <a:defRPr sz="1800"/>
            </a:pPr>
            <a:r>
              <a:rPr sz="2000" dirty="0"/>
              <a:t>from decimal import Decimal</a:t>
            </a:r>
          </a:p>
          <a:p>
            <a:pPr>
              <a:defRPr sz="1800"/>
            </a:pPr>
            <a:endParaRPr sz="2000" dirty="0"/>
          </a:p>
          <a:p>
            <a:pPr>
              <a:defRPr sz="1800"/>
            </a:pPr>
            <a:r>
              <a:rPr sz="2000" dirty="0"/>
              <a:t>def </a:t>
            </a:r>
            <a:r>
              <a:rPr sz="2000" dirty="0" err="1"/>
              <a:t>extract_total</a:t>
            </a:r>
            <a:r>
              <a:rPr sz="2000" dirty="0"/>
              <a:t>(text: str) -&gt; Decimal:</a:t>
            </a:r>
          </a:p>
          <a:p>
            <a:pPr>
              <a:defRPr sz="1800"/>
            </a:pPr>
            <a:r>
              <a:rPr sz="2000" dirty="0"/>
              <a:t>    patterns = [r'([\d,]+\.\d{2})\s*(USD|EUR|INR|₹|\$)??', r'₹\s*([\d,]+\.\d{2})']</a:t>
            </a:r>
          </a:p>
          <a:p>
            <a:pPr>
              <a:defRPr sz="1800"/>
            </a:pPr>
            <a:r>
              <a:rPr sz="2000" dirty="0"/>
              <a:t>    for pat in patterns:</a:t>
            </a:r>
          </a:p>
          <a:p>
            <a:pPr>
              <a:defRPr sz="1800"/>
            </a:pPr>
            <a:r>
              <a:rPr sz="2000" dirty="0"/>
              <a:t>        m = </a:t>
            </a:r>
            <a:r>
              <a:rPr sz="2000" dirty="0" err="1"/>
              <a:t>re.search</a:t>
            </a:r>
            <a:r>
              <a:rPr sz="2000" dirty="0"/>
              <a:t>(pat, </a:t>
            </a:r>
            <a:r>
              <a:rPr sz="2000" dirty="0" err="1"/>
              <a:t>text.replace</a:t>
            </a:r>
            <a:r>
              <a:rPr sz="2000" dirty="0"/>
              <a:t>('\n',' '))</a:t>
            </a:r>
          </a:p>
          <a:p>
            <a:pPr>
              <a:defRPr sz="1800"/>
            </a:pPr>
            <a:r>
              <a:rPr sz="2000" dirty="0"/>
              <a:t>        if m:</a:t>
            </a:r>
          </a:p>
          <a:p>
            <a:pPr>
              <a:defRPr sz="1800"/>
            </a:pPr>
            <a:r>
              <a:rPr sz="2000" dirty="0"/>
              <a:t>            return Decimal(</a:t>
            </a:r>
            <a:r>
              <a:rPr sz="2000" dirty="0" err="1"/>
              <a:t>m.group</a:t>
            </a:r>
            <a:r>
              <a:rPr sz="2000" dirty="0"/>
              <a:t>(1).replace(',',''))</a:t>
            </a:r>
          </a:p>
          <a:p>
            <a:pPr>
              <a:defRPr sz="1800"/>
            </a:pPr>
            <a:r>
              <a:rPr sz="2000" dirty="0"/>
              <a:t>    raise </a:t>
            </a:r>
            <a:r>
              <a:rPr sz="2000" dirty="0" err="1"/>
              <a:t>ValueError</a:t>
            </a:r>
            <a:r>
              <a:rPr sz="2000" dirty="0"/>
              <a:t>('Total not found')</a:t>
            </a:r>
          </a:p>
          <a:p>
            <a:pPr>
              <a:defRPr sz="1800"/>
            </a:pPr>
            <a:r>
              <a:rPr sz="2000" dirty="0"/>
              <a:t>```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95" y="158996"/>
            <a:ext cx="8001906" cy="857473"/>
          </a:xfrm>
        </p:spPr>
        <p:txBody>
          <a:bodyPr>
            <a:normAutofit/>
          </a:bodyPr>
          <a:lstStyle/>
          <a:p>
            <a:r>
              <a:rPr dirty="0"/>
              <a:t>CI/CD — </a:t>
            </a:r>
            <a:r>
              <a:rPr dirty="0">
                <a:solidFill>
                  <a:srgbClr val="FF0000"/>
                </a:solidFill>
              </a:rPr>
              <a:t>GitHub Actions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525" y="918086"/>
            <a:ext cx="8546445" cy="5780918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2000" dirty="0"/>
              <a:t>Sample GitHub Actions (</a:t>
            </a:r>
            <a:r>
              <a:rPr sz="2000" dirty="0" err="1"/>
              <a:t>ci.yml</a:t>
            </a:r>
            <a:r>
              <a:rPr sz="2000" dirty="0"/>
              <a:t>) — key steps: checkout, setup-python, install, lint, test, build, push</a:t>
            </a:r>
          </a:p>
          <a:p>
            <a:pPr>
              <a:defRPr sz="1800"/>
            </a:pPr>
            <a:r>
              <a:rPr sz="2000" dirty="0"/>
              <a:t>Short example (explain on board):</a:t>
            </a:r>
          </a:p>
          <a:p>
            <a:pPr>
              <a:defRPr sz="1800"/>
            </a:pPr>
            <a:r>
              <a:rPr sz="2000" dirty="0"/>
              <a:t>```</a:t>
            </a:r>
            <a:r>
              <a:rPr sz="2000" dirty="0" err="1"/>
              <a:t>yaml</a:t>
            </a:r>
            <a:endParaRPr sz="2000" dirty="0"/>
          </a:p>
          <a:p>
            <a:pPr>
              <a:defRPr sz="1800"/>
            </a:pPr>
            <a:r>
              <a:rPr sz="2000" dirty="0"/>
              <a:t>name: CI</a:t>
            </a:r>
          </a:p>
          <a:p>
            <a:pPr>
              <a:defRPr sz="1800"/>
            </a:pPr>
            <a:r>
              <a:rPr sz="2000" dirty="0"/>
              <a:t>on: [</a:t>
            </a:r>
            <a:r>
              <a:rPr sz="2000" dirty="0" err="1"/>
              <a:t>pull_request</a:t>
            </a:r>
            <a:r>
              <a:rPr sz="2000" dirty="0"/>
              <a:t>]</a:t>
            </a:r>
          </a:p>
          <a:p>
            <a:pPr>
              <a:defRPr sz="1800"/>
            </a:pPr>
            <a:r>
              <a:rPr sz="2000" dirty="0"/>
              <a:t>jobs:</a:t>
            </a:r>
          </a:p>
          <a:p>
            <a:pPr>
              <a:defRPr sz="1800"/>
            </a:pPr>
            <a:r>
              <a:rPr sz="2000" dirty="0"/>
              <a:t>  build:</a:t>
            </a:r>
          </a:p>
          <a:p>
            <a:pPr>
              <a:defRPr sz="1800"/>
            </a:pPr>
            <a:r>
              <a:rPr sz="2000" dirty="0"/>
              <a:t>    runs-on: ubuntu-latest</a:t>
            </a:r>
          </a:p>
          <a:p>
            <a:pPr>
              <a:defRPr sz="1800"/>
            </a:pPr>
            <a:r>
              <a:rPr sz="2000" dirty="0"/>
              <a:t>    steps:</a:t>
            </a:r>
          </a:p>
          <a:p>
            <a:pPr>
              <a:defRPr sz="1800"/>
            </a:pPr>
            <a:r>
              <a:rPr sz="2000" dirty="0"/>
              <a:t>      - uses: actions/checkout@v4</a:t>
            </a:r>
          </a:p>
          <a:p>
            <a:pPr>
              <a:defRPr sz="1800"/>
            </a:pPr>
            <a:r>
              <a:rPr sz="2000" dirty="0"/>
              <a:t>      - uses: actions/setup-python@v4</a:t>
            </a:r>
          </a:p>
          <a:p>
            <a:pPr>
              <a:defRPr sz="1800"/>
            </a:pPr>
            <a:r>
              <a:rPr sz="2000" dirty="0"/>
              <a:t>        with: python-version: '3.10'</a:t>
            </a:r>
          </a:p>
          <a:p>
            <a:pPr>
              <a:defRPr sz="1800"/>
            </a:pPr>
            <a:r>
              <a:rPr sz="2000" dirty="0"/>
              <a:t>      - run: pip install -r requirements.txt</a:t>
            </a:r>
          </a:p>
          <a:p>
            <a:pPr>
              <a:defRPr sz="1800"/>
            </a:pPr>
            <a:r>
              <a:rPr sz="2000" dirty="0"/>
              <a:t>      - run: pytest -q</a:t>
            </a:r>
          </a:p>
          <a:p>
            <a:pPr>
              <a:defRPr sz="1800"/>
            </a:pPr>
            <a:r>
              <a:rPr sz="2000" dirty="0"/>
              <a:t>```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2320" y="130133"/>
            <a:ext cx="6173808" cy="857473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Testing</a:t>
            </a:r>
            <a:r>
              <a:rPr dirty="0"/>
              <a:t> &amp;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90" y="1057801"/>
            <a:ext cx="8588877" cy="4466306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Testing strategy: unit tests, integration tests, contract tests, E2E for happy &amp; error paths.</a:t>
            </a:r>
            <a:endParaRPr lang="en-GB"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Use Copilot to </a:t>
            </a:r>
            <a:r>
              <a:rPr sz="2400" dirty="0">
                <a:solidFill>
                  <a:srgbClr val="FF0000"/>
                </a:solidFill>
              </a:rPr>
              <a:t>scaffold tests</a:t>
            </a:r>
            <a:r>
              <a:rPr sz="2400" dirty="0"/>
              <a:t>; always review generated tests for correctness.</a:t>
            </a:r>
            <a:endParaRPr lang="en-GB"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Include test data fixtures, mocked DB connections, and test coverage gating in CI.</a:t>
            </a:r>
            <a:endParaRPr lang="en-GB" sz="2400" dirty="0"/>
          </a:p>
          <a:p>
            <a:pPr>
              <a:defRPr sz="1800"/>
            </a:pPr>
            <a:endParaRPr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119391"/>
            <a:ext cx="6173808" cy="857473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Security</a:t>
            </a:r>
            <a:r>
              <a:rPr dirty="0"/>
              <a:t>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89" y="1067228"/>
            <a:ext cx="8567661" cy="5493827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2400" dirty="0"/>
              <a:t>Security </a:t>
            </a:r>
            <a:r>
              <a:rPr sz="2400" dirty="0">
                <a:solidFill>
                  <a:srgbClr val="FF0000"/>
                </a:solidFill>
              </a:rPr>
              <a:t>checklist </a:t>
            </a:r>
            <a:r>
              <a:rPr sz="2400" dirty="0"/>
              <a:t>when using Copilot-generated code:</a:t>
            </a:r>
          </a:p>
          <a:p>
            <a:pPr>
              <a:defRPr sz="1800"/>
            </a:pPr>
            <a:r>
              <a:rPr sz="2400" dirty="0"/>
              <a:t>- Review for secrets (don't accept code that prints or embeds credentials).</a:t>
            </a:r>
            <a:endParaRPr lang="en-GB"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- Scan for insecure patterns (SQL injection, missing validation).</a:t>
            </a:r>
            <a:endParaRPr lang="en-GB"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- Use static analysis tools (bandit, flake8, safety) in CI.</a:t>
            </a:r>
            <a:endParaRPr lang="en-GB"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- Ensure data privacy for invoices (mask PII) and comply with accounting regulations.</a:t>
            </a:r>
            <a:endParaRPr lang="en-GB"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- Add code ownership and PR review practices — never auto-merge without human review.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9805" y="89327"/>
            <a:ext cx="6173808" cy="857473"/>
          </a:xfrm>
        </p:spPr>
        <p:txBody>
          <a:bodyPr/>
          <a:lstStyle/>
          <a:p>
            <a:r>
              <a:rPr dirty="0"/>
              <a:t>Hands-on Exercises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90" y="946800"/>
            <a:ext cx="8447438" cy="52937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defRPr sz="1800"/>
            </a:pPr>
            <a:r>
              <a:rPr sz="2800" dirty="0"/>
              <a:t>Exercise 1: Scaffold ingestion endpoint + tests (30 mins) — use Copilot to help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1800"/>
            </a:pPr>
            <a:r>
              <a:rPr sz="2800" dirty="0"/>
              <a:t>Exercise 2: Implement </a:t>
            </a:r>
            <a:r>
              <a:rPr sz="2800" dirty="0" err="1"/>
              <a:t>extract_total</a:t>
            </a:r>
            <a:r>
              <a:rPr sz="2800" dirty="0"/>
              <a:t> and add unit tests (30 mins)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1800"/>
            </a:pPr>
            <a:r>
              <a:rPr sz="2800" dirty="0"/>
              <a:t>Exercise 3: Create CI workflow and run tests on PR (45 mins)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1800"/>
            </a:pPr>
            <a:r>
              <a:rPr sz="2800" dirty="0"/>
              <a:t>Exercise 4: Create a README and runbook using Copilot (15 mins)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94" y="222720"/>
            <a:ext cx="6173808" cy="857473"/>
          </a:xfrm>
        </p:spPr>
        <p:txBody>
          <a:bodyPr/>
          <a:lstStyle/>
          <a:p>
            <a:r>
              <a:rPr dirty="0"/>
              <a:t>Assessment &amp; </a:t>
            </a:r>
            <a:r>
              <a:rPr dirty="0">
                <a:solidFill>
                  <a:srgbClr val="FF0000"/>
                </a:solidFill>
              </a:rPr>
              <a:t>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425" y="1170924"/>
            <a:ext cx="8419150" cy="3395356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Assessment criteria:</a:t>
            </a:r>
          </a:p>
          <a:p>
            <a:pPr>
              <a:defRPr sz="1800"/>
            </a:pPr>
            <a:r>
              <a:rPr sz="2800" dirty="0"/>
              <a:t>- Correctness of endpoints and models (30%)</a:t>
            </a:r>
          </a:p>
          <a:p>
            <a:pPr>
              <a:defRPr sz="1800"/>
            </a:pPr>
            <a:r>
              <a:rPr sz="2800" dirty="0"/>
              <a:t>- Quality of tests and CI (25%)</a:t>
            </a:r>
          </a:p>
          <a:p>
            <a:pPr>
              <a:defRPr sz="1800"/>
            </a:pPr>
            <a:r>
              <a:rPr sz="2800" dirty="0"/>
              <a:t>- Security and input validation (20%)</a:t>
            </a:r>
          </a:p>
          <a:p>
            <a:pPr>
              <a:defRPr sz="1800"/>
            </a:pPr>
            <a:r>
              <a:rPr sz="2800" dirty="0"/>
              <a:t>- Use of Copilot effectively and justifying edits (15%)</a:t>
            </a:r>
          </a:p>
          <a:p>
            <a:pPr>
              <a:defRPr sz="1800"/>
            </a:pPr>
            <a:r>
              <a:rPr sz="2800" dirty="0"/>
              <a:t>- Documentation &amp; runbook (10%)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8422" y="181855"/>
            <a:ext cx="6173808" cy="857473"/>
          </a:xfrm>
        </p:spPr>
        <p:txBody>
          <a:bodyPr/>
          <a:lstStyle/>
          <a:p>
            <a:r>
              <a:rPr dirty="0"/>
              <a:t>FAQ &amp;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89" y="1039328"/>
            <a:ext cx="8581805" cy="4654462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2800" dirty="0">
                <a:solidFill>
                  <a:srgbClr val="FF0000"/>
                </a:solidFill>
              </a:rPr>
              <a:t>Q</a:t>
            </a:r>
            <a:r>
              <a:rPr sz="2800" dirty="0"/>
              <a:t>: Copilot suggested insecure code — what to do?</a:t>
            </a:r>
          </a:p>
          <a:p>
            <a:pPr>
              <a:defRPr sz="1800"/>
            </a:pPr>
            <a:r>
              <a:rPr sz="2800" dirty="0"/>
              <a:t>A: Reject, edit, run static checks, add tests.</a:t>
            </a:r>
            <a:endParaRPr lang="en-GB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>
                <a:solidFill>
                  <a:srgbClr val="FF0000"/>
                </a:solidFill>
              </a:rPr>
              <a:t>Q</a:t>
            </a:r>
            <a:r>
              <a:rPr sz="2800" dirty="0"/>
              <a:t>: Copilot hallucinated API names or libs?</a:t>
            </a:r>
          </a:p>
          <a:p>
            <a:pPr>
              <a:defRPr sz="1800"/>
            </a:pPr>
            <a:r>
              <a:rPr sz="2800" dirty="0"/>
              <a:t>A: Verify imports, pip install, run tests locally.</a:t>
            </a:r>
            <a:endParaRPr lang="en-GB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>
                <a:solidFill>
                  <a:srgbClr val="FF0000"/>
                </a:solidFill>
              </a:rPr>
              <a:t>Q</a:t>
            </a:r>
            <a:r>
              <a:rPr sz="2800" dirty="0"/>
              <a:t>: How to prompt Copilot for better results?</a:t>
            </a:r>
          </a:p>
          <a:p>
            <a:pPr>
              <a:defRPr sz="1800"/>
            </a:pPr>
            <a:r>
              <a:rPr sz="2800" dirty="0"/>
              <a:t>A: Be explicit about framework, versions, error handling and tests.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2353" y="119391"/>
            <a:ext cx="6173808" cy="857473"/>
          </a:xfrm>
        </p:spPr>
        <p:txBody>
          <a:bodyPr>
            <a:normAutofit fontScale="90000"/>
          </a:bodyPr>
          <a:lstStyle/>
          <a:p>
            <a:r>
              <a:rPr dirty="0"/>
              <a:t>Resources &amp;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89" y="976864"/>
            <a:ext cx="8581805" cy="3395356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2400" dirty="0">
                <a:solidFill>
                  <a:srgbClr val="FF0000"/>
                </a:solidFill>
              </a:rPr>
              <a:t>Resources</a:t>
            </a:r>
            <a:r>
              <a:rPr sz="2400" dirty="0"/>
              <a:t>:</a:t>
            </a:r>
          </a:p>
          <a:p>
            <a:pPr>
              <a:defRPr sz="1800"/>
            </a:pPr>
            <a:r>
              <a:rPr sz="2400" dirty="0"/>
              <a:t>- GitHub Copilot docs and Copilot Labs</a:t>
            </a:r>
          </a:p>
          <a:p>
            <a:pPr>
              <a:defRPr sz="1800"/>
            </a:pPr>
            <a:r>
              <a:rPr sz="2400" dirty="0"/>
              <a:t>- </a:t>
            </a:r>
            <a:r>
              <a:rPr sz="2400" dirty="0" err="1"/>
              <a:t>FastAPI</a:t>
            </a:r>
            <a:r>
              <a:rPr sz="2400" dirty="0"/>
              <a:t> docs, </a:t>
            </a:r>
            <a:r>
              <a:rPr sz="2400" dirty="0" err="1"/>
              <a:t>Pydantic</a:t>
            </a:r>
            <a:r>
              <a:rPr sz="2400" dirty="0"/>
              <a:t> docs, </a:t>
            </a:r>
            <a:r>
              <a:rPr sz="2400" dirty="0" err="1"/>
              <a:t>SQLAlchemy</a:t>
            </a:r>
            <a:r>
              <a:rPr sz="2400" dirty="0"/>
              <a:t> async docs</a:t>
            </a:r>
          </a:p>
          <a:p>
            <a:pPr>
              <a:defRPr sz="1800"/>
            </a:pPr>
            <a:r>
              <a:rPr sz="2400" dirty="0"/>
              <a:t>- pytest documentation and GitHub Actions docs</a:t>
            </a:r>
            <a:endParaRPr lang="en-GB"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- Suggested blog posts: </a:t>
            </a:r>
            <a:r>
              <a:rPr lang="en-GB" sz="2400" dirty="0"/>
              <a:t>	</a:t>
            </a:r>
            <a:r>
              <a:rPr sz="2400" dirty="0"/>
              <a:t>'Using Copilot in team workflows’, </a:t>
            </a:r>
            <a:endParaRPr lang="en-GB" sz="2400" dirty="0"/>
          </a:p>
          <a:p>
            <a:pPr marL="0" indent="0">
              <a:buNone/>
              <a:defRPr sz="1800"/>
            </a:pPr>
            <a:r>
              <a:rPr lang="en-IN" sz="2400" dirty="0"/>
              <a:t>						</a:t>
            </a:r>
            <a:r>
              <a:rPr sz="2400" dirty="0"/>
              <a:t>'Secure code review of AI-generated code'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Governance &amp; </a:t>
            </a:r>
            <a:r>
              <a:rPr dirty="0">
                <a:solidFill>
                  <a:srgbClr val="FF0000"/>
                </a:solidFill>
              </a:rPr>
              <a:t>Security</a:t>
            </a:r>
            <a:r>
              <a:rPr dirty="0"/>
              <a:t>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Enable data classification and sensitivity labels in </a:t>
            </a:r>
            <a:r>
              <a:rPr sz="2800" b="1" dirty="0">
                <a:solidFill>
                  <a:srgbClr val="FF0000"/>
                </a:solidFill>
              </a:rPr>
              <a:t>Microsoft Purview</a:t>
            </a:r>
          </a:p>
          <a:p>
            <a:pPr>
              <a:defRPr sz="2000"/>
            </a:pPr>
            <a:r>
              <a:rPr sz="2800" dirty="0"/>
              <a:t>Review Copilot data access logs and auditing settings</a:t>
            </a:r>
          </a:p>
          <a:p>
            <a:pPr>
              <a:defRPr sz="2000"/>
            </a:pPr>
            <a:r>
              <a:rPr sz="2800" dirty="0"/>
              <a:t>Define allowed data sources and restrict PII access where necessary</a:t>
            </a:r>
          </a:p>
          <a:p>
            <a:pPr>
              <a:defRPr sz="2000"/>
            </a:pPr>
            <a:r>
              <a:rPr sz="2800" dirty="0"/>
              <a:t>Establish clear user guidance: 'Do not use Copilot for regulated PII without approval'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Troubleshooting</a:t>
            </a:r>
            <a:r>
              <a:rPr dirty="0"/>
              <a:t> — Common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Copilot not visible: verify license assignment and tenant rollout status</a:t>
            </a:r>
          </a:p>
          <a:p>
            <a:pPr>
              <a:defRPr sz="2000"/>
            </a:pPr>
            <a:r>
              <a:rPr sz="2800" dirty="0"/>
              <a:t>Inaccurate outputs: treat as draft; validate facts and add human review</a:t>
            </a:r>
          </a:p>
          <a:p>
            <a:pPr>
              <a:defRPr sz="2000"/>
            </a:pPr>
            <a:r>
              <a:rPr sz="2800" dirty="0"/>
              <a:t>Permission errors: check Microsoft Graph consent and app permissions</a:t>
            </a:r>
          </a:p>
          <a:p>
            <a:pPr>
              <a:defRPr sz="2000"/>
            </a:pPr>
            <a:r>
              <a:rPr sz="2800" dirty="0"/>
              <a:t>Performance lag: test with different network conditions and clear cache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Resources &amp;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682" y="1600200"/>
            <a:ext cx="8517118" cy="452596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Microsoft Copilot </a:t>
            </a:r>
            <a:r>
              <a:rPr sz="2800" dirty="0">
                <a:solidFill>
                  <a:srgbClr val="FF0000"/>
                </a:solidFill>
              </a:rPr>
              <a:t>docs</a:t>
            </a:r>
            <a:r>
              <a:rPr sz="2800" dirty="0"/>
              <a:t>: admin &amp; user guides (search Microsoft Learn)</a:t>
            </a:r>
          </a:p>
          <a:p>
            <a:pPr>
              <a:defRPr sz="2000"/>
            </a:pPr>
            <a:r>
              <a:rPr sz="2800" dirty="0"/>
              <a:t>Microsoft Graph and data connectivity </a:t>
            </a:r>
            <a:r>
              <a:rPr sz="2800" dirty="0">
                <a:solidFill>
                  <a:srgbClr val="FF0000"/>
                </a:solidFill>
              </a:rPr>
              <a:t>documentation</a:t>
            </a:r>
          </a:p>
          <a:p>
            <a:pPr>
              <a:defRPr sz="2000"/>
            </a:pPr>
            <a:r>
              <a:rPr sz="2800" dirty="0"/>
              <a:t>Your </a:t>
            </a:r>
            <a:r>
              <a:rPr sz="2800" dirty="0" err="1"/>
              <a:t>organisation's</a:t>
            </a:r>
            <a:r>
              <a:rPr sz="2800" dirty="0"/>
              <a:t> compliance &amp; </a:t>
            </a:r>
            <a:r>
              <a:rPr sz="2800" dirty="0">
                <a:solidFill>
                  <a:srgbClr val="FF0000"/>
                </a:solidFill>
              </a:rPr>
              <a:t>Purview guides </a:t>
            </a:r>
            <a:r>
              <a:rPr sz="2800" dirty="0"/>
              <a:t>for data protection</a:t>
            </a:r>
            <a:endParaRPr lang="en-GB" sz="2800" dirty="0"/>
          </a:p>
          <a:p>
            <a:pPr>
              <a:defRPr sz="2000"/>
            </a:pPr>
            <a:endParaRPr sz="2800" dirty="0"/>
          </a:p>
          <a:p>
            <a:pPr>
              <a:defRPr sz="2000"/>
            </a:pPr>
            <a:r>
              <a:rPr sz="2800" dirty="0"/>
              <a:t>Suggested: create a </a:t>
            </a:r>
            <a:r>
              <a:rPr sz="2800" dirty="0">
                <a:solidFill>
                  <a:srgbClr val="FF0000"/>
                </a:solidFill>
              </a:rPr>
              <a:t>tenant playbook </a:t>
            </a:r>
            <a:r>
              <a:rPr sz="2800" dirty="0"/>
              <a:t>for Copilot rollout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CC507A-5340-0B7D-6A6A-EE937EBCDC8F}"/>
              </a:ext>
            </a:extLst>
          </p:cNvPr>
          <p:cNvSpPr txBox="1"/>
          <p:nvPr/>
        </p:nvSpPr>
        <p:spPr>
          <a:xfrm>
            <a:off x="3103774" y="3075057"/>
            <a:ext cx="29364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rgbClr val="FF0000"/>
                </a:solidFill>
              </a:rPr>
              <a:t>NEXT TOPIC</a:t>
            </a:r>
            <a:endParaRPr lang="en-IN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490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Copilot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Capabilities in coding, IDE integration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Lab: GitHub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Steps to activate and use Copilot in VS Code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34186" y="247846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Hands-on step-by-step lab to install and use GitHub Copilot in VS Code.</a:t>
            </a:r>
            <a:endParaRPr lang="en-GB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VS Code installed</a:t>
            </a:r>
          </a:p>
          <a:p>
            <a:r>
              <a:t>- GitHub Account</a:t>
            </a:r>
          </a:p>
          <a:p>
            <a:r>
              <a:t>- Copilot Extension</a:t>
            </a:r>
          </a:p>
          <a:p>
            <a:r>
              <a:t>- Internet Connection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Open VS Code</a:t>
            </a:r>
          </a:p>
          <a:p>
            <a:r>
              <a:t>2. Go to Extensions</a:t>
            </a:r>
          </a:p>
          <a:p>
            <a:r>
              <a:t>3. Search 'GitHub Copilot'</a:t>
            </a:r>
          </a:p>
          <a:p>
            <a:r>
              <a:t>4. Install the extension</a:t>
            </a:r>
          </a:p>
          <a:p>
            <a:r>
              <a:t>5. Sign in with GitHub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LAB</a:t>
            </a:r>
            <a:r>
              <a:rPr lang="en-GB" dirty="0"/>
              <a:t> EXERCISE USE CASE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GitHub Copilot Lab</a:t>
            </a:r>
          </a:p>
          <a:p>
            <a:r>
              <a:rPr dirty="0"/>
              <a:t>Real-World Business Use Case: Invoice Processing Microservice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Problem Statement</a:t>
            </a:r>
          </a:p>
          <a:p>
            <a:r>
              <a:t>2. Architecture</a:t>
            </a:r>
          </a:p>
          <a:p>
            <a:r>
              <a:t>3. Setting Up Project</a:t>
            </a:r>
          </a:p>
          <a:p>
            <a:r>
              <a:t>4. Step-by-Step Lab</a:t>
            </a:r>
          </a:p>
          <a:p>
            <a:r>
              <a:t>5. Copilot Prompts Used</a:t>
            </a:r>
          </a:p>
          <a:p>
            <a:r>
              <a:t>6. Tests &amp; CI/CD</a:t>
            </a:r>
          </a:p>
          <a:p>
            <a:r>
              <a:t>7. Exercises</a:t>
            </a:r>
          </a:p>
          <a:p>
            <a:r>
              <a:t>8. Summary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</a:t>
            </a:r>
            <a:r>
              <a:rPr dirty="0">
                <a:solidFill>
                  <a:srgbClr val="FF0000"/>
                </a:solidFill>
              </a:rPr>
              <a:t>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Automating invoice uploads, extraction, validation, and storage to reduce manual AP/Finance workload.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invoice upload, extraction, validation, and storage.</a:t>
            </a:r>
          </a:p>
          <a:p>
            <a:r>
              <a:t>Reduce manual workload for AP/Finance teams.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project folder</a:t>
            </a:r>
          </a:p>
          <a:p>
            <a:r>
              <a:t>2. Install dependencies</a:t>
            </a:r>
          </a:p>
          <a:p>
            <a:r>
              <a:t>3. Enable Copilot in VS Code</a:t>
            </a:r>
          </a:p>
          <a:p>
            <a:r>
              <a:t>4. Create FastAPI scaffolding</a:t>
            </a:r>
          </a:p>
          <a:p>
            <a:r>
              <a:t>5. Configure database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comments to guide Copilot:</a:t>
            </a:r>
          </a:p>
          <a:p>
            <a:r>
              <a:t>- '# Create FastAPI endpoint to upload invoice'</a:t>
            </a:r>
          </a:p>
          <a:p>
            <a:r>
              <a:t>- '# SQLModel for Invoice table'</a:t>
            </a:r>
          </a:p>
          <a:p>
            <a:r>
              <a:t>- '# pytest test for invoice creation'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Tech Stack:</a:t>
            </a:r>
          </a:p>
          <a:p>
            <a:r>
              <a:t>- FastAPI backend</a:t>
            </a:r>
          </a:p>
          <a:p>
            <a:r>
              <a:t>- SQLite (SQLModel ORM)</a:t>
            </a:r>
          </a:p>
          <a:p>
            <a:r>
              <a:t>- File Upload</a:t>
            </a:r>
          </a:p>
          <a:p>
            <a:r>
              <a:t>- Extraction Stub (OCR-ready)</a:t>
            </a:r>
          </a:p>
          <a:p>
            <a:r>
              <a:t>- REST Endpoints</a:t>
            </a:r>
          </a:p>
          <a:p>
            <a:r>
              <a:t>- Pytest</a:t>
            </a:r>
          </a:p>
          <a:p>
            <a:r>
              <a:t>- GitHub Actions CI/CD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invoice-service/</a:t>
            </a:r>
          </a:p>
          <a:p>
            <a:r>
              <a:rPr dirty="0"/>
              <a:t>  app/</a:t>
            </a:r>
          </a:p>
          <a:p>
            <a:r>
              <a:rPr dirty="0"/>
              <a:t>    main.py</a:t>
            </a:r>
          </a:p>
          <a:p>
            <a:r>
              <a:rPr dirty="0"/>
              <a:t>    models.py</a:t>
            </a:r>
          </a:p>
          <a:p>
            <a:r>
              <a:rPr dirty="0"/>
              <a:t>    schemas.py</a:t>
            </a:r>
          </a:p>
          <a:p>
            <a:r>
              <a:rPr dirty="0"/>
              <a:t>    crud.py</a:t>
            </a:r>
          </a:p>
          <a:p>
            <a:r>
              <a:rPr dirty="0"/>
              <a:t>  tests/</a:t>
            </a:r>
          </a:p>
          <a:p>
            <a:r>
              <a:rPr dirty="0"/>
              <a:t>    test_api.py</a:t>
            </a:r>
          </a:p>
          <a:p>
            <a:r>
              <a:rPr dirty="0"/>
              <a:t>  .github/workflows/</a:t>
            </a:r>
            <a:r>
              <a:rPr dirty="0" err="1"/>
              <a:t>ci.yml</a:t>
            </a:r>
            <a:endParaRPr dirty="0"/>
          </a:p>
          <a:p>
            <a:r>
              <a:rPr dirty="0"/>
              <a:t>  requirements.txt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main.py (</a:t>
            </a:r>
            <a:r>
              <a:rPr dirty="0" err="1"/>
              <a:t>FastAPI</a:t>
            </a:r>
            <a:r>
              <a:rPr dirty="0"/>
              <a:t> App)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9241"/>
            <a:ext cx="8229600" cy="6268825"/>
          </a:xfrm>
        </p:spPr>
        <p:txBody>
          <a:bodyPr>
            <a:noAutofit/>
          </a:bodyPr>
          <a:lstStyle/>
          <a:p>
            <a:r>
              <a:rPr sz="1800" dirty="0"/>
              <a:t>from </a:t>
            </a:r>
            <a:r>
              <a:rPr sz="1800" dirty="0" err="1"/>
              <a:t>fastapi</a:t>
            </a:r>
            <a:r>
              <a:rPr sz="1800" dirty="0"/>
              <a:t> import </a:t>
            </a:r>
            <a:r>
              <a:rPr sz="1800" dirty="0" err="1"/>
              <a:t>FastAPI</a:t>
            </a:r>
            <a:r>
              <a:rPr sz="1800" dirty="0"/>
              <a:t>, </a:t>
            </a:r>
            <a:r>
              <a:rPr sz="1800" dirty="0" err="1"/>
              <a:t>UploadFile</a:t>
            </a:r>
            <a:r>
              <a:rPr sz="1800" dirty="0"/>
              <a:t>, File, Depends</a:t>
            </a:r>
          </a:p>
          <a:p>
            <a:r>
              <a:rPr sz="1800" dirty="0"/>
              <a:t>from </a:t>
            </a:r>
            <a:r>
              <a:rPr sz="1800" dirty="0" err="1"/>
              <a:t>sqlmodel</a:t>
            </a:r>
            <a:r>
              <a:rPr sz="1800" dirty="0"/>
              <a:t> import </a:t>
            </a:r>
            <a:r>
              <a:rPr sz="1800" dirty="0" err="1"/>
              <a:t>SQLModel</a:t>
            </a:r>
            <a:r>
              <a:rPr sz="1800" dirty="0"/>
              <a:t>, </a:t>
            </a:r>
            <a:r>
              <a:rPr sz="1800" dirty="0" err="1"/>
              <a:t>create_engine</a:t>
            </a:r>
            <a:r>
              <a:rPr sz="1800" dirty="0"/>
              <a:t>, Session</a:t>
            </a:r>
          </a:p>
          <a:p>
            <a:r>
              <a:rPr sz="1800" dirty="0"/>
              <a:t>import </a:t>
            </a:r>
            <a:r>
              <a:rPr sz="1800" dirty="0" err="1"/>
              <a:t>shutil</a:t>
            </a:r>
            <a:endParaRPr sz="1800" dirty="0"/>
          </a:p>
          <a:p>
            <a:r>
              <a:rPr sz="1800" dirty="0"/>
              <a:t>from </a:t>
            </a:r>
            <a:r>
              <a:rPr sz="1800" dirty="0" err="1"/>
              <a:t>pathlib</a:t>
            </a:r>
            <a:r>
              <a:rPr sz="1800" dirty="0"/>
              <a:t> import Path</a:t>
            </a:r>
          </a:p>
          <a:p>
            <a:r>
              <a:rPr sz="1800" dirty="0"/>
              <a:t>from datetime import datetime</a:t>
            </a:r>
          </a:p>
          <a:p>
            <a:r>
              <a:rPr sz="1800" dirty="0"/>
              <a:t>from .schemas import </a:t>
            </a:r>
            <a:r>
              <a:rPr sz="1800" dirty="0" err="1"/>
              <a:t>InvoiceCreate</a:t>
            </a:r>
            <a:r>
              <a:rPr sz="1800" dirty="0"/>
              <a:t>, </a:t>
            </a:r>
            <a:r>
              <a:rPr sz="1800" dirty="0" err="1"/>
              <a:t>InvoiceRead</a:t>
            </a:r>
            <a:endParaRPr sz="1800" dirty="0"/>
          </a:p>
          <a:p>
            <a:r>
              <a:rPr sz="1800" dirty="0"/>
              <a:t>from .crud import </a:t>
            </a:r>
            <a:r>
              <a:rPr sz="1800" dirty="0" err="1"/>
              <a:t>create_invoice</a:t>
            </a:r>
            <a:r>
              <a:rPr sz="1800" dirty="0"/>
              <a:t>, </a:t>
            </a:r>
            <a:r>
              <a:rPr sz="1800" dirty="0" err="1"/>
              <a:t>list_invoices</a:t>
            </a:r>
            <a:endParaRPr sz="1800" dirty="0"/>
          </a:p>
          <a:p>
            <a:r>
              <a:rPr sz="1800" dirty="0"/>
              <a:t>DATABASE_URL = "</a:t>
            </a:r>
            <a:r>
              <a:rPr sz="1800" dirty="0" err="1"/>
              <a:t>sqlite</a:t>
            </a:r>
            <a:r>
              <a:rPr sz="1800" dirty="0"/>
              <a:t>:///./</a:t>
            </a:r>
            <a:r>
              <a:rPr sz="1800" dirty="0" err="1"/>
              <a:t>invoices.db</a:t>
            </a:r>
            <a:r>
              <a:rPr sz="1800" dirty="0"/>
              <a:t>"</a:t>
            </a:r>
          </a:p>
          <a:p>
            <a:r>
              <a:rPr sz="1800" dirty="0"/>
              <a:t>engine = </a:t>
            </a:r>
            <a:r>
              <a:rPr sz="1800" dirty="0" err="1"/>
              <a:t>create_engine</a:t>
            </a:r>
            <a:r>
              <a:rPr sz="1800" dirty="0"/>
              <a:t>(DATABASE_URL, echo=False)</a:t>
            </a:r>
          </a:p>
          <a:p>
            <a:r>
              <a:rPr sz="1800" dirty="0"/>
              <a:t>app = </a:t>
            </a:r>
            <a:r>
              <a:rPr sz="1800" dirty="0" err="1"/>
              <a:t>FastAPI</a:t>
            </a:r>
            <a:r>
              <a:rPr sz="1800" dirty="0"/>
              <a:t>(title="Invoice Processing API")</a:t>
            </a:r>
          </a:p>
          <a:p>
            <a:r>
              <a:rPr sz="1800" dirty="0"/>
              <a:t>@app.on_event("startup")</a:t>
            </a:r>
          </a:p>
          <a:p>
            <a:r>
              <a:rPr sz="1800" dirty="0"/>
              <a:t>def </a:t>
            </a:r>
            <a:r>
              <a:rPr sz="1800" dirty="0" err="1"/>
              <a:t>on_startup</a:t>
            </a:r>
            <a:r>
              <a:rPr sz="1800" dirty="0"/>
              <a:t>():</a:t>
            </a:r>
          </a:p>
          <a:p>
            <a:r>
              <a:rPr sz="1800" dirty="0"/>
              <a:t>    Path("uploads").</a:t>
            </a:r>
            <a:r>
              <a:rPr sz="1800" dirty="0" err="1"/>
              <a:t>mkdir</a:t>
            </a:r>
            <a:r>
              <a:rPr sz="1800" dirty="0"/>
              <a:t>(</a:t>
            </a:r>
            <a:r>
              <a:rPr sz="1800" dirty="0" err="1"/>
              <a:t>exist_ok</a:t>
            </a:r>
            <a:r>
              <a:rPr sz="1800" dirty="0"/>
              <a:t>=True)</a:t>
            </a:r>
          </a:p>
          <a:p>
            <a:r>
              <a:rPr sz="1800" dirty="0"/>
              <a:t>    </a:t>
            </a:r>
            <a:r>
              <a:rPr sz="1800" dirty="0" err="1"/>
              <a:t>SQLModel.metadata.create_all</a:t>
            </a:r>
            <a:r>
              <a:rPr sz="1800" dirty="0"/>
              <a:t>(engine)</a:t>
            </a:r>
          </a:p>
          <a:p>
            <a:r>
              <a:rPr sz="1800" dirty="0"/>
              <a:t>def </a:t>
            </a:r>
            <a:r>
              <a:rPr sz="1800" dirty="0" err="1"/>
              <a:t>get_session</a:t>
            </a:r>
            <a:r>
              <a:rPr sz="1800" dirty="0"/>
              <a:t>():</a:t>
            </a:r>
          </a:p>
          <a:p>
            <a:r>
              <a:rPr sz="1800" dirty="0"/>
              <a:t>    with Session(engine) as session:</a:t>
            </a:r>
          </a:p>
          <a:p>
            <a:r>
              <a:rPr sz="1800" dirty="0"/>
              <a:t>        yield session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main.py (Upload Endpoint)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6311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@app.post('/upload', </a:t>
            </a:r>
            <a:r>
              <a:rPr dirty="0" err="1"/>
              <a:t>response_model</a:t>
            </a:r>
            <a:r>
              <a:rPr dirty="0"/>
              <a:t>=</a:t>
            </a:r>
            <a:r>
              <a:rPr dirty="0" err="1"/>
              <a:t>InvoiceRead</a:t>
            </a:r>
            <a:r>
              <a:rPr dirty="0"/>
              <a:t>)</a:t>
            </a:r>
          </a:p>
          <a:p>
            <a:r>
              <a:rPr dirty="0"/>
              <a:t>async def </a:t>
            </a:r>
            <a:r>
              <a:rPr dirty="0" err="1"/>
              <a:t>upload_invoice</a:t>
            </a:r>
            <a:r>
              <a:rPr dirty="0"/>
              <a:t>(file: </a:t>
            </a:r>
            <a:r>
              <a:rPr dirty="0" err="1"/>
              <a:t>UploadFile</a:t>
            </a:r>
            <a:r>
              <a:rPr dirty="0"/>
              <a:t> = File(...), session: Session = Depends(</a:t>
            </a:r>
            <a:r>
              <a:rPr dirty="0" err="1"/>
              <a:t>get_session</a:t>
            </a:r>
            <a:r>
              <a:rPr dirty="0"/>
              <a:t>)):</a:t>
            </a:r>
          </a:p>
          <a:p>
            <a:r>
              <a:rPr dirty="0"/>
              <a:t>    </a:t>
            </a:r>
            <a:r>
              <a:rPr dirty="0" err="1"/>
              <a:t>dest</a:t>
            </a:r>
            <a:r>
              <a:rPr dirty="0"/>
              <a:t> = Path('uploads') / f"{int(</a:t>
            </a:r>
            <a:r>
              <a:rPr dirty="0" err="1"/>
              <a:t>datetime.now</a:t>
            </a:r>
            <a:r>
              <a:rPr dirty="0"/>
              <a:t>().timestamp())}_{</a:t>
            </a:r>
            <a:r>
              <a:rPr dirty="0" err="1"/>
              <a:t>file.filename</a:t>
            </a:r>
            <a:r>
              <a:rPr dirty="0"/>
              <a:t>}"</a:t>
            </a:r>
          </a:p>
          <a:p>
            <a:r>
              <a:rPr dirty="0"/>
              <a:t>    with </a:t>
            </a:r>
            <a:r>
              <a:rPr dirty="0" err="1"/>
              <a:t>dest.open</a:t>
            </a:r>
            <a:r>
              <a:rPr dirty="0"/>
              <a:t>('</a:t>
            </a:r>
            <a:r>
              <a:rPr dirty="0" err="1"/>
              <a:t>wb</a:t>
            </a:r>
            <a:r>
              <a:rPr dirty="0"/>
              <a:t>') as f:</a:t>
            </a:r>
          </a:p>
          <a:p>
            <a:r>
              <a:rPr dirty="0"/>
              <a:t>        </a:t>
            </a:r>
            <a:r>
              <a:rPr dirty="0" err="1"/>
              <a:t>shutil.copyfileobj</a:t>
            </a:r>
            <a:r>
              <a:rPr dirty="0"/>
              <a:t>(</a:t>
            </a:r>
            <a:r>
              <a:rPr dirty="0" err="1"/>
              <a:t>file.file</a:t>
            </a:r>
            <a:r>
              <a:rPr dirty="0"/>
              <a:t>, f)</a:t>
            </a:r>
          </a:p>
          <a:p>
            <a:endParaRPr dirty="0"/>
          </a:p>
          <a:p>
            <a:r>
              <a:rPr dirty="0"/>
              <a:t>    data = </a:t>
            </a:r>
            <a:r>
              <a:rPr dirty="0" err="1"/>
              <a:t>extract_invoice_fields_stub</a:t>
            </a:r>
            <a:r>
              <a:rPr dirty="0"/>
              <a:t>(dest.name)</a:t>
            </a:r>
          </a:p>
          <a:p>
            <a:r>
              <a:rPr dirty="0"/>
              <a:t>    </a:t>
            </a:r>
            <a:r>
              <a:rPr dirty="0" err="1"/>
              <a:t>invoice_in</a:t>
            </a:r>
            <a:r>
              <a:rPr dirty="0"/>
              <a:t> = </a:t>
            </a:r>
            <a:r>
              <a:rPr dirty="0" err="1"/>
              <a:t>InvoiceCreate</a:t>
            </a:r>
            <a:r>
              <a:rPr dirty="0"/>
              <a:t>(**data)</a:t>
            </a:r>
          </a:p>
          <a:p>
            <a:r>
              <a:rPr dirty="0"/>
              <a:t>    return </a:t>
            </a:r>
            <a:r>
              <a:rPr dirty="0" err="1"/>
              <a:t>create_invoice</a:t>
            </a:r>
            <a:r>
              <a:rPr dirty="0"/>
              <a:t>(session, </a:t>
            </a:r>
            <a:r>
              <a:rPr dirty="0" err="1"/>
              <a:t>invoice_in</a:t>
            </a:r>
            <a:r>
              <a:rPr dirty="0"/>
              <a:t>, </a:t>
            </a:r>
            <a:r>
              <a:rPr dirty="0" err="1"/>
              <a:t>source_file</a:t>
            </a:r>
            <a:r>
              <a:rPr dirty="0"/>
              <a:t>=str(</a:t>
            </a:r>
            <a:r>
              <a:rPr dirty="0" err="1"/>
              <a:t>dest</a:t>
            </a:r>
            <a:r>
              <a:rPr dirty="0"/>
              <a:t>))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 dirty="0"/>
              <a:t>models.py (</a:t>
            </a:r>
            <a:r>
              <a:rPr dirty="0" err="1"/>
              <a:t>SQLModel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3337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from typing import Optional</a:t>
            </a:r>
          </a:p>
          <a:p>
            <a:r>
              <a:rPr dirty="0"/>
              <a:t>from datetime import date</a:t>
            </a:r>
          </a:p>
          <a:p>
            <a:r>
              <a:rPr dirty="0"/>
              <a:t>from </a:t>
            </a:r>
            <a:r>
              <a:rPr dirty="0" err="1"/>
              <a:t>sqlmodel</a:t>
            </a:r>
            <a:r>
              <a:rPr dirty="0"/>
              <a:t> import </a:t>
            </a:r>
            <a:r>
              <a:rPr dirty="0" err="1"/>
              <a:t>SQLModel</a:t>
            </a:r>
            <a:r>
              <a:rPr dirty="0"/>
              <a:t>, Field</a:t>
            </a:r>
          </a:p>
          <a:p>
            <a:endParaRPr dirty="0"/>
          </a:p>
          <a:p>
            <a:r>
              <a:rPr dirty="0"/>
              <a:t>class Invoice(</a:t>
            </a:r>
            <a:r>
              <a:rPr dirty="0" err="1"/>
              <a:t>SQLModel</a:t>
            </a:r>
            <a:r>
              <a:rPr dirty="0"/>
              <a:t>, table=True):</a:t>
            </a:r>
          </a:p>
          <a:p>
            <a:r>
              <a:rPr dirty="0"/>
              <a:t>    id: Optional[int] = Field(default=None, </a:t>
            </a:r>
            <a:r>
              <a:rPr dirty="0" err="1"/>
              <a:t>primary_key</a:t>
            </a:r>
            <a:r>
              <a:rPr dirty="0"/>
              <a:t>=True)</a:t>
            </a:r>
          </a:p>
          <a:p>
            <a:r>
              <a:rPr dirty="0"/>
              <a:t>    </a:t>
            </a:r>
            <a:r>
              <a:rPr dirty="0" err="1"/>
              <a:t>invoice_number</a:t>
            </a:r>
            <a:r>
              <a:rPr dirty="0"/>
              <a:t>: str</a:t>
            </a:r>
          </a:p>
          <a:p>
            <a:r>
              <a:rPr dirty="0"/>
              <a:t>    vendor: str</a:t>
            </a:r>
          </a:p>
          <a:p>
            <a:r>
              <a:rPr dirty="0"/>
              <a:t>    date: date</a:t>
            </a:r>
          </a:p>
          <a:p>
            <a:r>
              <a:rPr dirty="0"/>
              <a:t>    amount: float</a:t>
            </a:r>
          </a:p>
          <a:p>
            <a:r>
              <a:rPr dirty="0"/>
              <a:t>    </a:t>
            </a:r>
            <a:r>
              <a:rPr dirty="0" err="1"/>
              <a:t>source_file</a:t>
            </a:r>
            <a:r>
              <a:rPr dirty="0"/>
              <a:t>: Optional[str] = None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 dirty="0"/>
              <a:t>schemas.py (</a:t>
            </a:r>
            <a:r>
              <a:rPr dirty="0" err="1"/>
              <a:t>Pydantic</a:t>
            </a:r>
            <a:r>
              <a:rPr dirty="0"/>
              <a:t> Schemas)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3337"/>
            <a:ext cx="8229600" cy="5285999"/>
          </a:xfrm>
        </p:spPr>
        <p:txBody>
          <a:bodyPr>
            <a:noAutofit/>
          </a:bodyPr>
          <a:lstStyle/>
          <a:p>
            <a:r>
              <a:rPr sz="2000" dirty="0"/>
              <a:t>from </a:t>
            </a:r>
            <a:r>
              <a:rPr sz="2000" dirty="0" err="1"/>
              <a:t>pydantic</a:t>
            </a:r>
            <a:r>
              <a:rPr sz="2000" dirty="0"/>
              <a:t> import </a:t>
            </a:r>
            <a:r>
              <a:rPr sz="2000" dirty="0" err="1"/>
              <a:t>BaseModel</a:t>
            </a:r>
            <a:endParaRPr sz="2000" dirty="0"/>
          </a:p>
          <a:p>
            <a:r>
              <a:rPr sz="2000" dirty="0"/>
              <a:t>from datetime import date</a:t>
            </a:r>
          </a:p>
          <a:p>
            <a:endParaRPr sz="2000" dirty="0"/>
          </a:p>
          <a:p>
            <a:r>
              <a:rPr sz="2000" dirty="0"/>
              <a:t>class </a:t>
            </a:r>
            <a:r>
              <a:rPr sz="2000" dirty="0" err="1"/>
              <a:t>InvoiceCreate</a:t>
            </a:r>
            <a:r>
              <a:rPr sz="2000" dirty="0"/>
              <a:t>(</a:t>
            </a:r>
            <a:r>
              <a:rPr sz="2000" dirty="0" err="1"/>
              <a:t>BaseModel</a:t>
            </a:r>
            <a:r>
              <a:rPr sz="2000" dirty="0"/>
              <a:t>):</a:t>
            </a:r>
          </a:p>
          <a:p>
            <a:r>
              <a:rPr sz="2000" dirty="0"/>
              <a:t>    </a:t>
            </a:r>
            <a:r>
              <a:rPr sz="2000" dirty="0" err="1"/>
              <a:t>invoice_number</a:t>
            </a:r>
            <a:r>
              <a:rPr sz="2000" dirty="0"/>
              <a:t>: str</a:t>
            </a:r>
          </a:p>
          <a:p>
            <a:r>
              <a:rPr sz="2000" dirty="0"/>
              <a:t>    vendor: str</a:t>
            </a:r>
          </a:p>
          <a:p>
            <a:r>
              <a:rPr sz="2000" dirty="0"/>
              <a:t>    date: date</a:t>
            </a:r>
          </a:p>
          <a:p>
            <a:r>
              <a:rPr sz="2000" dirty="0"/>
              <a:t>    amount: float</a:t>
            </a:r>
          </a:p>
          <a:p>
            <a:endParaRPr sz="2000" dirty="0"/>
          </a:p>
          <a:p>
            <a:r>
              <a:rPr sz="2000" dirty="0"/>
              <a:t>class </a:t>
            </a:r>
            <a:r>
              <a:rPr sz="2000" dirty="0" err="1"/>
              <a:t>InvoiceRead</a:t>
            </a:r>
            <a:r>
              <a:rPr sz="2000" dirty="0"/>
              <a:t>(</a:t>
            </a:r>
            <a:r>
              <a:rPr sz="2000" dirty="0" err="1"/>
              <a:t>InvoiceCreate</a:t>
            </a:r>
            <a:r>
              <a:rPr sz="2000" dirty="0"/>
              <a:t>):</a:t>
            </a:r>
          </a:p>
          <a:p>
            <a:r>
              <a:rPr sz="2000" dirty="0"/>
              <a:t>    id: int</a:t>
            </a:r>
          </a:p>
          <a:p>
            <a:r>
              <a:rPr sz="2000" dirty="0"/>
              <a:t>    </a:t>
            </a:r>
            <a:r>
              <a:rPr sz="2000" dirty="0" err="1"/>
              <a:t>source_file</a:t>
            </a:r>
            <a:r>
              <a:rPr sz="2000" dirty="0"/>
              <a:t>: str | None</a:t>
            </a:r>
          </a:p>
          <a:p>
            <a:r>
              <a:rPr sz="2000" dirty="0"/>
              <a:t>    class Config:</a:t>
            </a:r>
          </a:p>
          <a:p>
            <a:r>
              <a:rPr sz="2000" dirty="0"/>
              <a:t>        </a:t>
            </a:r>
            <a:r>
              <a:rPr sz="2000" dirty="0" err="1"/>
              <a:t>orm_mode</a:t>
            </a:r>
            <a:r>
              <a:rPr sz="2000" dirty="0"/>
              <a:t> = True</a:t>
            </a:r>
          </a:p>
          <a:p>
            <a:endParaRPr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95"/>
            <a:ext cx="8229600" cy="1143000"/>
          </a:xfrm>
        </p:spPr>
        <p:txBody>
          <a:bodyPr/>
          <a:lstStyle/>
          <a:p>
            <a:r>
              <a:rPr dirty="0"/>
              <a:t>crud.py (CRUD Logic)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347904"/>
          </a:xfrm>
        </p:spPr>
        <p:txBody>
          <a:bodyPr>
            <a:noAutofit/>
          </a:bodyPr>
          <a:lstStyle/>
          <a:p>
            <a:r>
              <a:rPr sz="2000" dirty="0"/>
              <a:t>from </a:t>
            </a:r>
            <a:r>
              <a:rPr sz="2000" dirty="0" err="1"/>
              <a:t>sqlmodel</a:t>
            </a:r>
            <a:r>
              <a:rPr sz="2000" dirty="0"/>
              <a:t> import Session, select</a:t>
            </a:r>
          </a:p>
          <a:p>
            <a:r>
              <a:rPr sz="2000" dirty="0"/>
              <a:t>from .models import Invoice</a:t>
            </a:r>
          </a:p>
          <a:p>
            <a:r>
              <a:rPr sz="2000" dirty="0"/>
              <a:t>from .schemas import </a:t>
            </a:r>
            <a:r>
              <a:rPr sz="2000" dirty="0" err="1"/>
              <a:t>InvoiceCreate</a:t>
            </a:r>
            <a:endParaRPr sz="2000" dirty="0"/>
          </a:p>
          <a:p>
            <a:endParaRPr sz="2000" dirty="0"/>
          </a:p>
          <a:p>
            <a:r>
              <a:rPr sz="2000" dirty="0"/>
              <a:t>def </a:t>
            </a:r>
            <a:r>
              <a:rPr sz="2000" dirty="0" err="1"/>
              <a:t>create_invoice</a:t>
            </a:r>
            <a:r>
              <a:rPr sz="2000" dirty="0"/>
              <a:t>(session: Session, </a:t>
            </a:r>
            <a:r>
              <a:rPr sz="2000" dirty="0" err="1"/>
              <a:t>invoice_in</a:t>
            </a:r>
            <a:r>
              <a:rPr sz="2000" dirty="0"/>
              <a:t>: </a:t>
            </a:r>
            <a:r>
              <a:rPr sz="2000" dirty="0" err="1"/>
              <a:t>InvoiceCreate</a:t>
            </a:r>
            <a:r>
              <a:rPr sz="2000" dirty="0"/>
              <a:t>, </a:t>
            </a:r>
            <a:r>
              <a:rPr sz="2000" dirty="0" err="1"/>
              <a:t>source_file</a:t>
            </a:r>
            <a:r>
              <a:rPr sz="2000" dirty="0"/>
              <a:t>=None):</a:t>
            </a:r>
          </a:p>
          <a:p>
            <a:r>
              <a:rPr sz="2000" dirty="0"/>
              <a:t>    invoice = </a:t>
            </a:r>
            <a:r>
              <a:rPr sz="2000" dirty="0" err="1"/>
              <a:t>Invoice.from_orm</a:t>
            </a:r>
            <a:r>
              <a:rPr sz="2000" dirty="0"/>
              <a:t>(</a:t>
            </a:r>
            <a:r>
              <a:rPr sz="2000" dirty="0" err="1"/>
              <a:t>invoice_in</a:t>
            </a:r>
            <a:r>
              <a:rPr sz="2000" dirty="0"/>
              <a:t>)</a:t>
            </a:r>
          </a:p>
          <a:p>
            <a:r>
              <a:rPr sz="2000" dirty="0"/>
              <a:t>    </a:t>
            </a:r>
            <a:r>
              <a:rPr sz="2000" dirty="0" err="1"/>
              <a:t>invoice.source_file</a:t>
            </a:r>
            <a:r>
              <a:rPr sz="2000" dirty="0"/>
              <a:t> = </a:t>
            </a:r>
            <a:r>
              <a:rPr sz="2000" dirty="0" err="1"/>
              <a:t>source_file</a:t>
            </a:r>
            <a:endParaRPr sz="2000" dirty="0"/>
          </a:p>
          <a:p>
            <a:r>
              <a:rPr sz="2000" dirty="0"/>
              <a:t>    </a:t>
            </a:r>
            <a:r>
              <a:rPr sz="2000" dirty="0" err="1"/>
              <a:t>session.add</a:t>
            </a:r>
            <a:r>
              <a:rPr sz="2000" dirty="0"/>
              <a:t>(invoice)</a:t>
            </a:r>
          </a:p>
          <a:p>
            <a:r>
              <a:rPr sz="2000" dirty="0"/>
              <a:t>    </a:t>
            </a:r>
            <a:r>
              <a:rPr sz="2000" dirty="0" err="1"/>
              <a:t>session.commit</a:t>
            </a:r>
            <a:r>
              <a:rPr sz="2000" dirty="0"/>
              <a:t>()</a:t>
            </a:r>
          </a:p>
          <a:p>
            <a:r>
              <a:rPr sz="2000" dirty="0"/>
              <a:t>    </a:t>
            </a:r>
            <a:r>
              <a:rPr sz="2000" dirty="0" err="1"/>
              <a:t>session.refresh</a:t>
            </a:r>
            <a:r>
              <a:rPr sz="2000" dirty="0"/>
              <a:t>(invoice)</a:t>
            </a:r>
          </a:p>
          <a:p>
            <a:r>
              <a:rPr sz="2000" dirty="0"/>
              <a:t>    return invoice</a:t>
            </a:r>
          </a:p>
          <a:p>
            <a:r>
              <a:rPr sz="2000" dirty="0"/>
              <a:t>def </a:t>
            </a:r>
            <a:r>
              <a:rPr sz="2000" dirty="0" err="1"/>
              <a:t>list_invoices</a:t>
            </a:r>
            <a:r>
              <a:rPr sz="2000" dirty="0"/>
              <a:t>(session: Session, limit=50):</a:t>
            </a:r>
          </a:p>
          <a:p>
            <a:r>
              <a:rPr sz="2000" dirty="0"/>
              <a:t>    return </a:t>
            </a:r>
            <a:r>
              <a:rPr sz="2000" dirty="0" err="1"/>
              <a:t>session.exec</a:t>
            </a:r>
            <a:r>
              <a:rPr sz="2000" dirty="0"/>
              <a:t>(select(Invoice).limit(limit)).all()</a:t>
            </a:r>
          </a:p>
          <a:p>
            <a:endParaRPr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tests/test_api.py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9177"/>
            <a:ext cx="8229600" cy="5705574"/>
          </a:xfrm>
        </p:spPr>
        <p:txBody>
          <a:bodyPr>
            <a:noAutofit/>
          </a:bodyPr>
          <a:lstStyle/>
          <a:p>
            <a:r>
              <a:rPr sz="2400" dirty="0"/>
              <a:t>import pytest</a:t>
            </a:r>
          </a:p>
          <a:p>
            <a:r>
              <a:rPr sz="2400" dirty="0"/>
              <a:t>from </a:t>
            </a:r>
            <a:r>
              <a:rPr sz="2400" dirty="0" err="1"/>
              <a:t>httpx</a:t>
            </a:r>
            <a:r>
              <a:rPr sz="2400" dirty="0"/>
              <a:t> import </a:t>
            </a:r>
            <a:r>
              <a:rPr sz="2400" dirty="0" err="1"/>
              <a:t>AsyncClient</a:t>
            </a:r>
            <a:endParaRPr sz="2400" dirty="0"/>
          </a:p>
          <a:p>
            <a:r>
              <a:rPr sz="2400" dirty="0"/>
              <a:t>from </a:t>
            </a:r>
            <a:r>
              <a:rPr sz="2400" dirty="0" err="1"/>
              <a:t>app.main</a:t>
            </a:r>
            <a:r>
              <a:rPr sz="2400" dirty="0"/>
              <a:t> import app</a:t>
            </a:r>
          </a:p>
          <a:p>
            <a:r>
              <a:rPr sz="2400" dirty="0"/>
              <a:t>@pytest.mark.anyio</a:t>
            </a:r>
          </a:p>
          <a:p>
            <a:r>
              <a:rPr sz="2400" dirty="0"/>
              <a:t>async def </a:t>
            </a:r>
            <a:r>
              <a:rPr sz="2400" dirty="0" err="1"/>
              <a:t>test_create_invoice</a:t>
            </a:r>
            <a:r>
              <a:rPr sz="2400" dirty="0"/>
              <a:t>():</a:t>
            </a:r>
          </a:p>
          <a:p>
            <a:r>
              <a:rPr sz="2400" dirty="0"/>
              <a:t>    async with </a:t>
            </a:r>
            <a:r>
              <a:rPr sz="2400" dirty="0" err="1"/>
              <a:t>AsyncClient</a:t>
            </a:r>
            <a:r>
              <a:rPr sz="2400" dirty="0"/>
              <a:t>(app=app, </a:t>
            </a:r>
            <a:r>
              <a:rPr sz="2400" dirty="0" err="1"/>
              <a:t>base_url</a:t>
            </a:r>
            <a:r>
              <a:rPr sz="2400" dirty="0"/>
              <a:t>='http://test') as ac:</a:t>
            </a:r>
          </a:p>
          <a:p>
            <a:r>
              <a:rPr sz="2400" dirty="0"/>
              <a:t>        r = await </a:t>
            </a:r>
            <a:r>
              <a:rPr sz="2400" dirty="0" err="1"/>
              <a:t>ac.post</a:t>
            </a:r>
            <a:r>
              <a:rPr sz="2400" dirty="0"/>
              <a:t>('/invoices', </a:t>
            </a:r>
            <a:r>
              <a:rPr sz="2400" dirty="0" err="1"/>
              <a:t>json</a:t>
            </a:r>
            <a:r>
              <a:rPr sz="2400" dirty="0"/>
              <a:t>={</a:t>
            </a:r>
          </a:p>
          <a:p>
            <a:r>
              <a:rPr sz="2400" dirty="0"/>
              <a:t>            'invoice_number':'T1','vendor':'Test','date':'2025-01-01','amount':100</a:t>
            </a:r>
          </a:p>
          <a:p>
            <a:r>
              <a:rPr sz="2400" dirty="0"/>
              <a:t>        })</a:t>
            </a:r>
          </a:p>
          <a:p>
            <a:r>
              <a:rPr sz="2400" dirty="0"/>
              <a:t>        assert </a:t>
            </a:r>
            <a:r>
              <a:rPr sz="2400" dirty="0" err="1"/>
              <a:t>r.status_code</a:t>
            </a:r>
            <a:r>
              <a:rPr sz="2400" dirty="0"/>
              <a:t> == 200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87"/>
            <a:ext cx="8229600" cy="1143000"/>
          </a:xfrm>
        </p:spPr>
        <p:txBody>
          <a:bodyPr/>
          <a:lstStyle/>
          <a:p>
            <a:r>
              <a:rPr dirty="0"/>
              <a:t>GitHub Actions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4592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name: CI</a:t>
            </a:r>
          </a:p>
          <a:p>
            <a:r>
              <a:rPr dirty="0"/>
              <a:t>on: [push, </a:t>
            </a:r>
            <a:r>
              <a:rPr dirty="0" err="1"/>
              <a:t>pull_request</a:t>
            </a:r>
            <a:r>
              <a:rPr dirty="0"/>
              <a:t>]</a:t>
            </a:r>
          </a:p>
          <a:p>
            <a:endParaRPr dirty="0"/>
          </a:p>
          <a:p>
            <a:r>
              <a:rPr dirty="0"/>
              <a:t>jobs:</a:t>
            </a:r>
          </a:p>
          <a:p>
            <a:r>
              <a:rPr dirty="0"/>
              <a:t>  test:</a:t>
            </a:r>
          </a:p>
          <a:p>
            <a:r>
              <a:rPr dirty="0"/>
              <a:t>    runs-on: ubuntu-latest</a:t>
            </a:r>
          </a:p>
          <a:p>
            <a:r>
              <a:rPr dirty="0"/>
              <a:t>    steps:</a:t>
            </a:r>
          </a:p>
          <a:p>
            <a:r>
              <a:rPr dirty="0"/>
              <a:t>      - uses: actions/checkout@v4</a:t>
            </a:r>
          </a:p>
          <a:p>
            <a:r>
              <a:rPr dirty="0"/>
              <a:t>      - uses: actions/setup-python@v4</a:t>
            </a:r>
          </a:p>
          <a:p>
            <a:r>
              <a:rPr dirty="0"/>
              <a:t>        with:</a:t>
            </a:r>
          </a:p>
          <a:p>
            <a:r>
              <a:rPr dirty="0"/>
              <a:t>          python-version: '3.11'</a:t>
            </a:r>
          </a:p>
          <a:p>
            <a:r>
              <a:rPr dirty="0"/>
              <a:t>      - run: pip install -r requirements.txt</a:t>
            </a:r>
          </a:p>
          <a:p>
            <a:r>
              <a:rPr dirty="0"/>
              <a:t>      - run: pytest -q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Copilot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Generate scaffolding</a:t>
            </a:r>
          </a:p>
          <a:p>
            <a:r>
              <a:t>• Auto-write CRUD</a:t>
            </a:r>
          </a:p>
          <a:p>
            <a:r>
              <a:t>• Auto-generate tests</a:t>
            </a:r>
          </a:p>
          <a:p>
            <a:r>
              <a:t>• Write CI YAML</a:t>
            </a:r>
          </a:p>
          <a:p>
            <a:r>
              <a:t>• Suggest refactors</a:t>
            </a:r>
          </a:p>
          <a:p>
            <a:r>
              <a:t>• Improve docstrings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Models, Schemas, CRUD.</a:t>
            </a:r>
          </a:p>
          <a:p>
            <a:r>
              <a:t>Copilot speeds boilerplate generation.</a:t>
            </a:r>
          </a:p>
          <a:p>
            <a:r>
              <a:t>Run app using uvicorn.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/upload and /invoices endpoints.</a:t>
            </a:r>
          </a:p>
          <a:p>
            <a:r>
              <a:t>Stub extraction logic.</a:t>
            </a:r>
          </a:p>
          <a:p>
            <a:r>
              <a:t>Test using curl or HTTP client.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tests with pytest.</a:t>
            </a:r>
          </a:p>
          <a:p>
            <a:r>
              <a:t>Copilot autogenerates fixtures &amp; test cases.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Actions workflow:</a:t>
            </a:r>
          </a:p>
          <a:p>
            <a:r>
              <a:t>- Install deps</a:t>
            </a:r>
          </a:p>
          <a:p>
            <a:r>
              <a:t>- Run pytest</a:t>
            </a:r>
          </a:p>
          <a:p>
            <a:r>
              <a:t>- Validate PRs automatically.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A. Create invoice JSON</a:t>
            </a:r>
          </a:p>
          <a:p>
            <a:r>
              <a:t>B. Upload invoice file</a:t>
            </a:r>
          </a:p>
          <a:p>
            <a:r>
              <a:t>C. Break &amp; fix test using Copilot</a:t>
            </a:r>
          </a:p>
          <a:p>
            <a:r>
              <a:t>D. Add validation endpoint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Copilot accelerates:</a:t>
            </a:r>
          </a:p>
          <a:p>
            <a:r>
              <a:t>- Scaffolding</a:t>
            </a:r>
          </a:p>
          <a:p>
            <a:r>
              <a:t>- Tests</a:t>
            </a:r>
          </a:p>
          <a:p>
            <a:r>
              <a:t>- Docs</a:t>
            </a:r>
          </a:p>
          <a:p>
            <a:r>
              <a:t>- Refactors</a:t>
            </a:r>
          </a:p>
          <a:p>
            <a:r>
              <a:t>- CI scripts</a:t>
            </a:r>
          </a:p>
          <a:p>
            <a:endParaRPr/>
          </a:p>
          <a:p>
            <a:r>
              <a:t>AI-assisted development for real business workflows.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B2A26-D440-DE45-8402-27B9A5D46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1456F4-8396-3A69-88EF-AC48C234537A}"/>
              </a:ext>
            </a:extLst>
          </p:cNvPr>
          <p:cNvSpPr txBox="1"/>
          <p:nvPr/>
        </p:nvSpPr>
        <p:spPr>
          <a:xfrm>
            <a:off x="3103774" y="3075057"/>
            <a:ext cx="29364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rgbClr val="FF0000"/>
                </a:solidFill>
              </a:rPr>
              <a:t>NEXT TOPIC</a:t>
            </a:r>
            <a:endParaRPr lang="en-IN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790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Ctrl+Shift+I or Chat icon</a:t>
            </a:r>
          </a:p>
          <a:p>
            <a:r>
              <a:t>Ask: Explain reverseString and rewrite using recursion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with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 code intentionally</a:t>
            </a:r>
          </a:p>
          <a:p>
            <a:r>
              <a:t>Ask Copilot: 'What is wrong in this function?'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Ask:</a:t>
            </a:r>
          </a:p>
          <a:p>
            <a:r>
              <a:t>// add jsdoc for this function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test.js</a:t>
            </a:r>
          </a:p>
          <a:p>
            <a:r>
              <a:t>Ask:</a:t>
            </a:r>
          </a:p>
          <a:p>
            <a:r>
              <a:t>// write unit tests for add() using Jest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solidFill>
                  <a:srgbClr val="FF0000"/>
                </a:solidFill>
              </a:rPr>
              <a:t>LibreChat</a:t>
            </a:r>
            <a:r>
              <a:rPr b="1" dirty="0">
                <a:solidFill>
                  <a:srgbClr val="FF0000"/>
                </a:solidFill>
              </a:rPr>
              <a:t>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Open-source AI assistant, customization options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2769125"/>
            <a:ext cx="8229600" cy="2830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Self-hosted, multi-provider LLM chat UI.</a:t>
            </a:r>
          </a:p>
          <a:p>
            <a:r>
              <a:rPr lang="en-IN"/>
              <a:t>Supports OpenAI, Anthropic, Google, local models.</a:t>
            </a:r>
          </a:p>
          <a:p>
            <a:r>
              <a:rPr lang="en-IN"/>
              <a:t>Extensible with RAG, plugins, vector DB.</a:t>
            </a:r>
            <a:endParaRPr lang="en-IN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Learn LibreChat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Privacy &amp; control</a:t>
            </a:r>
          </a:p>
          <a:p>
            <a:r>
              <a:t>- Multi-provider model switching</a:t>
            </a:r>
          </a:p>
          <a:p>
            <a:r>
              <a:t>- RAG support</a:t>
            </a:r>
          </a:p>
          <a:p>
            <a:r>
              <a:t>- Extensible for enterprise use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Git installed</a:t>
            </a:r>
          </a:p>
          <a:p>
            <a:r>
              <a:t>- Docker &amp; Docker Compose</a:t>
            </a:r>
          </a:p>
          <a:p>
            <a:r>
              <a:t>- Node.js &amp; pnpm (optional)</a:t>
            </a:r>
          </a:p>
          <a:p>
            <a:r>
              <a:t>- API keys (optional)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Path: Stage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Quick Start:</a:t>
            </a:r>
          </a:p>
          <a:p>
            <a:r>
              <a:t>1. git clone repo</a:t>
            </a:r>
          </a:p>
          <a:p>
            <a:r>
              <a:t>2. cd LibreChat</a:t>
            </a:r>
          </a:p>
          <a:p>
            <a:r>
              <a:t>3. docker compose up -d</a:t>
            </a:r>
          </a:p>
          <a:p>
            <a:r>
              <a:t>4. Open browser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Path: Stage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 UI &amp; settings:</a:t>
            </a:r>
          </a:p>
          <a:p>
            <a:r>
              <a:t>- Model switching</a:t>
            </a:r>
          </a:p>
          <a:p>
            <a:r>
              <a:t>- Provider configuration</a:t>
            </a:r>
          </a:p>
          <a:p>
            <a:r>
              <a:t>- Branching conversations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Path: Stage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 Mode:</a:t>
            </a:r>
          </a:p>
          <a:p>
            <a:r>
              <a:t>- pnpm i</a:t>
            </a:r>
          </a:p>
          <a:p>
            <a:r>
              <a:t>- pnpm dev</a:t>
            </a:r>
          </a:p>
          <a:p>
            <a:r>
              <a:t>- Modify UI and rebuild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Path: Stage 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Advanced:</a:t>
            </a:r>
          </a:p>
          <a:p>
            <a:r>
              <a:t>- RAG setup</a:t>
            </a:r>
          </a:p>
          <a:p>
            <a:r>
              <a:t>- Add vector DB</a:t>
            </a:r>
          </a:p>
          <a:p>
            <a:r>
              <a:t>- Add OAuth and deploy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0: Quick Startup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Clone repo</a:t>
            </a:r>
          </a:p>
          <a:p>
            <a:r>
              <a:t>2. docker compose up -d</a:t>
            </a:r>
          </a:p>
          <a:p>
            <a:r>
              <a:t>3. Open UI in browser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1: Model Switching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Add API keys in settings</a:t>
            </a:r>
          </a:p>
          <a:p>
            <a:r>
              <a:t>2. Ask prompt</a:t>
            </a:r>
          </a:p>
          <a:p>
            <a:r>
              <a:t>3. Switch model</a:t>
            </a:r>
          </a:p>
          <a:p>
            <a:r>
              <a:t>4. Compare results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2: Code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Ask for Python script</a:t>
            </a:r>
          </a:p>
          <a:p>
            <a:r>
              <a:t>2. Copy code</a:t>
            </a:r>
          </a:p>
          <a:p>
            <a:r>
              <a:t>3. Run locally</a:t>
            </a:r>
          </a:p>
          <a:p>
            <a:r>
              <a:t>4. Debug using LibreChat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3: RAG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Upload PDF</a:t>
            </a:r>
          </a:p>
          <a:p>
            <a:r>
              <a:t>2. Ask context questions</a:t>
            </a:r>
          </a:p>
          <a:p>
            <a:r>
              <a:t>3. Validate RAG response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4: Add Provider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Edit .env</a:t>
            </a:r>
          </a:p>
          <a:p>
            <a:r>
              <a:t>2. Restart service</a:t>
            </a:r>
          </a:p>
          <a:p>
            <a:r>
              <a:t>3. Test new provider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5: Deploy LibreChat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Launch on server</a:t>
            </a:r>
          </a:p>
          <a:p>
            <a:r>
              <a:t>2. Add OAuth configuration</a:t>
            </a:r>
          </a:p>
          <a:p>
            <a:r>
              <a:t>3. Test login + chat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rgbClr val="FF0000"/>
                </a:solidFill>
              </a:rPr>
              <a:t>Tabular Comparison of Two Coding Assistants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Detailed side-by-side comparison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Tabular Comparison — Two Coding Assistants (Step-by-Step)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GitHub Copilot vs Microsoft Copilot (coding features) — Practical evaluation for learners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 the end of this session learners will be able to:</a:t>
            </a:r>
          </a:p>
          <a:p>
            <a:r>
              <a:t>• Compare GitHub Copilot and Microsoft Copilot using objective criteria.</a:t>
            </a:r>
          </a:p>
          <a:p>
            <a:r>
              <a:t>• Run hands-on tests in IDEs and capture results.</a:t>
            </a:r>
          </a:p>
          <a:p>
            <a:r>
              <a:t>• Decide which assistant fits a given project need.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Overview (One-liners)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Copilot: AI pair programmer focused on code generation, completions, and IDE workflows.</a:t>
            </a:r>
          </a:p>
          <a:p>
            <a:endParaRPr/>
          </a:p>
          <a:p>
            <a:r>
              <a:t>Microsoft Copilot (coding features): AI assistant integrated across Microsoft tooling (Visual Studio, VS Code, Azure) with focus on enterprise context and broader workflow.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Tabular Comparison — Core Features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832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r>
                        <a:t>Evaluation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GitHub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Microsoft Copilot (coding)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 / How to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t>Primary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Code generation, snippets, refactorings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for code + IDE workflows and enterprise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Run code-complete tasks: write function, refactor, add 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t>IDE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VS Code, JetBrains, 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Visual Studio, VS Code (Copilot in VS), GitHub Codespaces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Install extensions in VS Code and Visual Studio; test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t>Context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File &amp; repo-level context; trained on public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 + enterprise context via Microsoft Graph &amp; repo telemetry (where available)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Ask each assistant to complete a function that depends on other files in repo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t>Refactoring &amp;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Suggests refactors and unit tests 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Offers similar suggestions; integrates with VS Test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Request refactor and ask to generate unit 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t>Privacy &amp; Data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 processing; GitHub policies; opts for enterprise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Microsoft cloud with enterprise governance and compliance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Check privacy docs and enterprise settings; note prompts sent to cloud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r>
                        <a:t>Cost &amp; Licensing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Subscription; free for students/OSS maintainers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 of Microsoft Copilot SKU / licensing varies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Compare pricing pages or trial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Step-by-step Evaluation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1. Define criteria: accuracy, relevance, speed, privacy, integration.</a:t>
            </a:r>
          </a:p>
          <a:p>
            <a:r>
              <a:t>2. Prepare test repo: small multi-file project (README, modules, tests).</a:t>
            </a:r>
          </a:p>
          <a:p>
            <a:r>
              <a:t>3. Set up environments: VS Code + Copilot extension; Visual Studio + Copilot.</a:t>
            </a:r>
          </a:p>
          <a:p>
            <a:r>
              <a:t>4. Run scenarios: write new feature, refactor, bug fix, add unit tests.</a:t>
            </a:r>
          </a:p>
          <a:p>
            <a:r>
              <a:t>5. Capture outputs: suggestion quality, time-to-first-suggestion, correctness.</a:t>
            </a:r>
          </a:p>
          <a:p>
            <a:r>
              <a:t>6. Score &amp; analyze results: use rubric and tabulate scores.</a:t>
            </a:r>
          </a:p>
          <a:p>
            <a:r>
              <a:t>7. Decide &amp; document recommendation.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— Test Setup (Hands-on)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1. Create a sample repo: Python/JavaScript small app (3-6 files) with TODOs.</a:t>
            </a:r>
          </a:p>
          <a:p>
            <a:r>
              <a:t>2. Install extensions:</a:t>
            </a:r>
          </a:p>
          <a:p>
            <a:r>
              <a:t>   - VS Code: GitHub Copilot extension (install from marketplace).</a:t>
            </a:r>
          </a:p>
          <a:p>
            <a:r>
              <a:t>   - VS Code / Visual Studio: Microsoft Copilot (if available for your tenant).</a:t>
            </a:r>
          </a:p>
          <a:p>
            <a:r>
              <a:t>3. Log in with the appropriate accounts (GitHub / Microsoft) and enable in settings.</a:t>
            </a:r>
          </a:p>
          <a:p>
            <a:r>
              <a:t>4. Ensure internet access for cloud processing or use Codespaces for GitHub Copilot.</a:t>
            </a:r>
          </a:p>
          <a:p>
            <a:r>
              <a:t>5. Create a test sheet to capture results (spreadsheet with scenarios and rubric).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Lab — Test Scenarios (Execute these)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Scenario A: Implement a new function from docstring or spec.</a:t>
            </a:r>
          </a:p>
          <a:p>
            <a:r>
              <a:t>Scenario B: Refactor a function to improve readability &amp; performance.</a:t>
            </a:r>
          </a:p>
          <a:p>
            <a:r>
              <a:t>Scenario C: Fix a failing unit test (bug hunting).</a:t>
            </a:r>
          </a:p>
          <a:p>
            <a:r>
              <a:t>Scenario D: Generate unit tests for a module.</a:t>
            </a:r>
          </a:p>
          <a:p>
            <a:r>
              <a:t>Scenario E: Add comments and documentation for a complex function.</a:t>
            </a:r>
          </a:p>
          <a:p>
            <a:endParaRPr/>
          </a:p>
          <a:p>
            <a:r>
              <a:t>For each scenario, record: suggestion relevance (0-5), correctness (0-5), time, and manual edits needed.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Rubric — How to Score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Scoring fields (0-5):</a:t>
            </a:r>
          </a:p>
          <a:p>
            <a:r>
              <a:t>• Relevance: How closely suggestion matches requested task.</a:t>
            </a:r>
          </a:p>
          <a:p>
            <a:r>
              <a:t>• Correctness: Whether the suggestion runs and passes tests.</a:t>
            </a:r>
          </a:p>
          <a:p>
            <a:r>
              <a:t>• Completeness: Does it cover edge cases? (nulls, errors)</a:t>
            </a:r>
          </a:p>
          <a:p>
            <a:r>
              <a:t>• Effort saved: % of manual edits required.</a:t>
            </a:r>
          </a:p>
          <a:p>
            <a:endParaRPr/>
          </a:p>
          <a:p>
            <a:r>
              <a:t>Aggregate scores to compare assistants across scenarios.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— Results Table (Fill this after labs)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2296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GitHub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A: New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Relevance (0-5)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Copilot matched docstring well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A: New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Correctness (0-5)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GitHub produced test-ready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B: Refactor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Effort saved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Cleaner suggestions from 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C: Bug 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 to fix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Faster helpful suggestion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D: Unit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Better test templates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• GitHub Copilot excels for code generation, refactoring, and unit tests in developer workflows.</a:t>
            </a:r>
          </a:p>
          <a:p>
            <a:r>
              <a:t>• Microsoft Copilot adds value when coding is part of broader enterprise workflows and integration with Microsoft services.</a:t>
            </a:r>
          </a:p>
          <a:p>
            <a:r>
              <a:t>• For developer-centered projects choose GitHub Copilot; for enterprise-integrated projects evaluate Microsoft Copilot along with governance needs.</a:t>
            </a:r>
          </a:p>
          <a:p>
            <a:endParaRPr/>
          </a:p>
          <a:p>
            <a:r>
              <a:t>Document results and repeat tests on real project repos for final decision.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590" y="285750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Demo: MS Copilot in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974237"/>
            <a:ext cx="8229600" cy="492551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Key features demonstration in IDE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Demo: Microsoft Copilot in IDE (Step-by-Step)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Practical walkthrough for using MS Copilot features inside VS Code / Visual Studio</a:t>
            </a:r>
          </a:p>
          <a:p>
            <a:r>
              <a:t>Prepared for classroom demo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Visual Studio Code or Visual Studio installed (latest stable).</a:t>
            </a:r>
          </a:p>
          <a:p>
            <a:r>
              <a:t>Active Microsoft account with Copilot entitlement (Copilot for Business or applicable SKU).</a:t>
            </a:r>
          </a:p>
          <a:p>
            <a:r>
              <a:t>Internet access and permission to sign in to Microsoft services from the IDE.</a:t>
            </a:r>
          </a:p>
          <a:p>
            <a:r>
              <a:t>Optional: sample repository (small multi-file project) ready in your workspace.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you'll demonstrate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and enable Microsoft Copilot extension.</a:t>
            </a:r>
          </a:p>
          <a:p>
            <a:r>
              <a:t>Sign in and grant permissions.</a:t>
            </a:r>
          </a:p>
          <a:p>
            <a:r>
              <a:t>Use Copilot to generate code, refactor, and create unit tests.</a:t>
            </a:r>
          </a:p>
          <a:p>
            <a:r>
              <a:t>Adjust settings and review privacy controls.</a:t>
            </a:r>
          </a:p>
          <a:p>
            <a:r>
              <a:t>Capture suggestions, evaluate quality, and save results.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— Install Copilot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VS Code → Extensions (Ctrl+Shift+X).</a:t>
            </a:r>
          </a:p>
          <a:p>
            <a:r>
              <a:t>Search 'Copilot' or 'Microsoft Copilot' and choose the official extension.</a:t>
            </a:r>
          </a:p>
          <a:p>
            <a:r>
              <a:t>Click 'Install'.</a:t>
            </a:r>
          </a:p>
          <a:p>
            <a:r>
              <a:t>Restart the IDE if prompted.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Screenshot — Extensions Marketplace</a:t>
            </a:r>
          </a:p>
        </p:txBody>
      </p:sp>
      <p:pic>
        <p:nvPicPr>
          <p:cNvPr id="3" name="Picture 2" descr="61d65874-347e-4795-a049-14a6a5a9b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141296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2 — Sign in to Microsoft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Click 'Sign in' when the extension prompts — choose your Microsoft account.</a:t>
            </a:r>
          </a:p>
          <a:p>
            <a:r>
              <a:t>If your tenant requires admin consent, follow the admin flow or use an allowed account.</a:t>
            </a:r>
          </a:p>
          <a:p>
            <a:r>
              <a:t>Verify Copilot shows 'Signed in' in extension panel or status bar.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3 — Enable Copilot in Workspace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Command Palette (Ctrl+Shift+P) → 'Copilot: Enable' or use the extension settings.</a:t>
            </a:r>
          </a:p>
          <a:p>
            <a:r>
              <a:t>Ensure 'Allow access to workspace' is toggled for repo context.</a:t>
            </a:r>
          </a:p>
          <a:p>
            <a:r>
              <a:t>Open a code file to see inline suggestions.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Screenshot — Copilot Signed In / UI</a:t>
            </a:r>
          </a:p>
        </p:txBody>
      </p:sp>
      <p:pic>
        <p:nvPicPr>
          <p:cNvPr id="3" name="Picture 2" descr="64b463da-5a21-43a4-ba58-cb979bd949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2063931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4 — Generate Code from Comment / Docstring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 new file or open an existing one with a TODO or docstring describing the function.</a:t>
            </a:r>
          </a:p>
          <a:p>
            <a:r>
              <a:t>Type a descriptive comment or docstring (e.g., '# TODO: implement function to parse CSV and return summary').</a:t>
            </a:r>
          </a:p>
          <a:p>
            <a:r>
              <a:t>Wait for Copilot inline suggestion or press Ctrl+Enter to accept completion.</a:t>
            </a:r>
          </a:p>
          <a:p>
            <a:r>
              <a:t>Edit as needed and run tests.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— Refactor &amp; Improve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Select the function or block you want to refactor.</a:t>
            </a:r>
          </a:p>
          <a:p>
            <a:r>
              <a:t>Open Command Palette → 'Copilot: Suggest a refactor' or prompt in-line to refactor for readability/performance.</a:t>
            </a:r>
          </a:p>
          <a:p>
            <a:r>
              <a:t>Review the suggested refactor, run the code, and compare performance/readability.</a:t>
            </a:r>
          </a:p>
          <a:p>
            <a:r>
              <a:t>Use Git to create a branch and commit suggestions you accept.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Screenshot — Code Suggestion / Acceptance</a:t>
            </a:r>
          </a:p>
        </p:txBody>
      </p:sp>
      <p:pic>
        <p:nvPicPr>
          <p:cNvPr id="3" name="Picture 2" descr="6b3f745b-985a-404b-9624-f572c2626f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1972358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 — Auto-generate Unit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the module and ask Copilot to 'Generate unit tests for this module'.</a:t>
            </a:r>
          </a:p>
          <a:p>
            <a:r>
              <a:t>Copilot will propose test cases — review for edge cases and correctness.</a:t>
            </a:r>
          </a:p>
          <a:p>
            <a:r>
              <a:t>Run tests (pytest / NUnit) and adjust tests as required.</a:t>
            </a:r>
          </a:p>
          <a:p>
            <a:r>
              <a:t>Record which suggestions passed/failed for the rubric.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7 — Use Copilot Chat for Contextual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Copilot Chat panel in the IDE (if your SKU includes chat).</a:t>
            </a:r>
          </a:p>
          <a:p>
            <a:r>
              <a:t>Ask questions about the codebase: 'Where is the user validation logic?' or 'Summarize this module'.</a:t>
            </a:r>
          </a:p>
          <a:p>
            <a:r>
              <a:t>Use chat to request multi-step changes (refactor, add tests, document).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 — Settings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extension settings → Review data sharing &amp; telemetry options.</a:t>
            </a:r>
          </a:p>
          <a:p>
            <a:r>
              <a:t>Check whether code is sent to Microsoft cloud or kept private per tenant policies.</a:t>
            </a:r>
          </a:p>
          <a:p>
            <a:r>
              <a:t>For enterprise, review admin-level governance and consent requirements.</a:t>
            </a:r>
          </a:p>
          <a:p>
            <a:r>
              <a:t>Document privacy decisions in your evaluation sheet.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suggestions don't appear: check sign-in, extension enabled, workspace permissions.</a:t>
            </a:r>
          </a:p>
          <a:p>
            <a:r>
              <a:t>If Copilot shows 'not available in your tenant', verify license &amp; admin consent.</a:t>
            </a:r>
          </a:p>
          <a:p>
            <a:r>
              <a:t>Use developer tools / output pane to inspect logs for errors.</a:t>
            </a:r>
          </a:p>
          <a:p>
            <a:r>
              <a:t>When in doubt, re-install the extension and restart the IDE.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Checklist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Checklist: Extension installed, Signed-in, Sample repo open, Rubric sheet ready.</a:t>
            </a:r>
          </a:p>
          <a:p>
            <a:r>
              <a:t>Resources: Microsoft Copilot docs, VS Code marketplace, GitHub Copilot docs for comparison.</a:t>
            </a:r>
          </a:p>
          <a:p>
            <a:r>
              <a:t>Next steps: Run lab scenarios, capture results, present findings.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 — Final Demo View</a:t>
            </a:r>
          </a:p>
        </p:txBody>
      </p:sp>
      <p:pic>
        <p:nvPicPr>
          <p:cNvPr id="3" name="Picture 2" descr="4945c483-f6f7-4133-89a4-065a46d104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1485606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232209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163" y="285750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Demo: GitHub Copilot in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163" y="5663153"/>
            <a:ext cx="8229600" cy="652806"/>
          </a:xfrm>
        </p:spPr>
        <p:txBody>
          <a:bodyPr/>
          <a:lstStyle/>
          <a:p>
            <a:r>
              <a:rPr dirty="0"/>
              <a:t>Key features demonstration in VS Code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Demo: GitHub Copilot in IDE (Step-by-Step)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Practical walkthrough for using GitHub Copilot inside VS Code / JetBrains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VS Code or JetBrains IDE installed.</a:t>
            </a:r>
          </a:p>
          <a:p>
            <a:r>
              <a:t>GitHub account with GitHub Copilot subscription or free student access.</a:t>
            </a:r>
          </a:p>
          <a:p>
            <a:r>
              <a:t>Internet access.</a:t>
            </a:r>
          </a:p>
          <a:p>
            <a:r>
              <a:t>Sample project folder (Python/JavaScript).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1 — Install GitHub Copilot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VS Code → Extensions (Ctrl+Shift+X).</a:t>
            </a:r>
          </a:p>
          <a:p>
            <a:r>
              <a:t>Search for 'GitHub Copilot'.</a:t>
            </a:r>
          </a:p>
          <a:p>
            <a:r>
              <a:t>Click 'Install'.</a:t>
            </a:r>
          </a:p>
          <a:p>
            <a:r>
              <a:t>Reload the IDE if prompted.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— Sign In with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Click the 'Sign in to GitHub' button after installation.</a:t>
            </a:r>
          </a:p>
          <a:p>
            <a:r>
              <a:t>Browser opens → Authorize GitHub Copilot.</a:t>
            </a:r>
          </a:p>
          <a:p>
            <a:r>
              <a:t>Return to VS Code and confirm connection.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— Enable Inline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Command Palette → 'GitHub Copilot: Enable'.</a:t>
            </a:r>
          </a:p>
          <a:p>
            <a:r>
              <a:t>Ensure inline suggestions are turned ON.</a:t>
            </a:r>
          </a:p>
          <a:p>
            <a:r>
              <a:t>Open a code file to activate suggestions.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4 — Generate Code from Comment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 new file (example.py).</a:t>
            </a:r>
          </a:p>
          <a:p>
            <a:r>
              <a:t>Type a comment describing what you want:</a:t>
            </a:r>
          </a:p>
          <a:p>
            <a:r>
              <a:t>Example: # Write a function to validate email format.</a:t>
            </a:r>
          </a:p>
          <a:p>
            <a:r>
              <a:t>Copilot auto-suggests code → Press Tab to accept.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— Multi-line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typing a function definition:</a:t>
            </a:r>
          </a:p>
          <a:p>
            <a:r>
              <a:t>Example: def calculate_summary(data):</a:t>
            </a:r>
          </a:p>
          <a:p>
            <a:r>
              <a:t>Copilot will generate 3–10 lines of logic automatically.</a:t>
            </a:r>
          </a:p>
          <a:p>
            <a:r>
              <a:t>Use Tab / arrow keys to cycle through suggestions.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 — Refactor Using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code block.</a:t>
            </a:r>
          </a:p>
          <a:p>
            <a:r>
              <a:t>Right-click → 'Ask Copilot'.</a:t>
            </a:r>
          </a:p>
          <a:p>
            <a:r>
              <a:t>Examples:</a:t>
            </a:r>
          </a:p>
          <a:p>
            <a:r>
              <a:t>• 'Refactor for readability'</a:t>
            </a:r>
          </a:p>
          <a:p>
            <a:r>
              <a:t>• 'Optimize performance'</a:t>
            </a:r>
          </a:p>
          <a:p>
            <a:r>
              <a:t>• 'Rewrite using list comprehensions'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 — Auto-generate Unit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your module.</a:t>
            </a:r>
          </a:p>
          <a:p>
            <a:r>
              <a:t>Ask Copilot: 'Generate pytest unit tests for this file'.</a:t>
            </a:r>
          </a:p>
          <a:p>
            <a:r>
              <a:t>Review suggested tests → Save &amp; run.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8 — Use Copilot Chat for Understanding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the Copilot Chat panel.</a:t>
            </a:r>
          </a:p>
          <a:p>
            <a:r>
              <a:t>Ask: 'Explain this function'.</a:t>
            </a:r>
          </a:p>
          <a:p>
            <a:r>
              <a:t>Ask: 'Where is the login validation logic located?'.</a:t>
            </a:r>
          </a:p>
          <a:p>
            <a:r>
              <a:t>Use chat for debugging or doc generation.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suggestions don’t appear → check sign-in status.</a:t>
            </a:r>
          </a:p>
          <a:p>
            <a:r>
              <a:t>Ensure GitHub account has Copilot access.</a:t>
            </a:r>
          </a:p>
          <a:p>
            <a:r>
              <a:t>Check Output Panel → GitHub Copilot logs.</a:t>
            </a:r>
          </a:p>
          <a:p>
            <a:r>
              <a:t>Restart VS Code if needed.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Checklist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Extension installed ✔</a:t>
            </a:r>
          </a:p>
          <a:p>
            <a:r>
              <a:t>Logged in to GitHub ✔</a:t>
            </a:r>
          </a:p>
          <a:p>
            <a:r>
              <a:t>Test project opened ✔</a:t>
            </a:r>
          </a:p>
          <a:p>
            <a:r>
              <a:t>Try advanced prompts (refactor, tests, documentation).</a:t>
            </a:r>
          </a:p>
          <a:p>
            <a:r>
              <a:t>Compare suggestion quality vs MS Copilot.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217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5823</Words>
  <Application>Microsoft Office PowerPoint</Application>
  <PresentationFormat>On-screen Show (4:3)</PresentationFormat>
  <Paragraphs>751</Paragraphs>
  <Slides>122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25" baseType="lpstr">
      <vt:lpstr>Arial</vt:lpstr>
      <vt:lpstr>Calibri</vt:lpstr>
      <vt:lpstr>Office Theme</vt:lpstr>
      <vt:lpstr>GenAI in Digital Transformation</vt:lpstr>
      <vt:lpstr>Comparative Analysis</vt:lpstr>
      <vt:lpstr>Step 1: Overview</vt:lpstr>
      <vt:lpstr>Step 2: Purpose &amp; Use Cases</vt:lpstr>
      <vt:lpstr>Step 3: Integrations</vt:lpstr>
      <vt:lpstr>Step 4: Data Privacy &amp; Control</vt:lpstr>
      <vt:lpstr>Step 5: Licensing &amp; Cost</vt:lpstr>
      <vt:lpstr>Step 6: Strengths &amp; Weaknesses</vt:lpstr>
      <vt:lpstr>Step 7: When to Use Which?</vt:lpstr>
      <vt:lpstr>MS Copilot Overview</vt:lpstr>
      <vt:lpstr>MS Copilot Overview</vt:lpstr>
      <vt:lpstr>Lab: MS Copilot</vt:lpstr>
      <vt:lpstr>Hands‑on: Microsoft Copilot in Microsoft 365</vt:lpstr>
      <vt:lpstr>Learning Objectives</vt:lpstr>
      <vt:lpstr>Prerequisites</vt:lpstr>
      <vt:lpstr>GitHub Copilot Lab — Practical, Business‑Level Use Case</vt:lpstr>
      <vt:lpstr>Agenda</vt:lpstr>
      <vt:lpstr>Real-world Business Use Case</vt:lpstr>
      <vt:lpstr>Solution Architecture</vt:lpstr>
      <vt:lpstr>Lab Step-by-step Overview </vt:lpstr>
      <vt:lpstr>Copilot Prompt Patterns &amp; Examples</vt:lpstr>
      <vt:lpstr>Code Snippet — Pydantic Model</vt:lpstr>
      <vt:lpstr>Code Snippet — OCR field extraction</vt:lpstr>
      <vt:lpstr>CI/CD — GitHub Actions </vt:lpstr>
      <vt:lpstr>Testing &amp; QA</vt:lpstr>
      <vt:lpstr>Security &amp; Compliance</vt:lpstr>
      <vt:lpstr>Hands-on Exercises </vt:lpstr>
      <vt:lpstr>Assessment &amp; Rubric</vt:lpstr>
      <vt:lpstr>FAQ &amp; Troubleshooting</vt:lpstr>
      <vt:lpstr>Resources &amp; Further Reading</vt:lpstr>
      <vt:lpstr>Governance &amp; Security Checklist</vt:lpstr>
      <vt:lpstr>Troubleshooting — Common Issues</vt:lpstr>
      <vt:lpstr>Resources &amp; Further Reading</vt:lpstr>
      <vt:lpstr>PowerPoint Presentation</vt:lpstr>
      <vt:lpstr>GitHub Copilot Overview</vt:lpstr>
      <vt:lpstr>Lab: GitHub Copilot</vt:lpstr>
      <vt:lpstr>Prerequisites</vt:lpstr>
      <vt:lpstr>Install Copilot</vt:lpstr>
      <vt:lpstr>LAB EXERCISE USE CASE</vt:lpstr>
      <vt:lpstr>Agenda</vt:lpstr>
      <vt:lpstr>Business Scenario</vt:lpstr>
      <vt:lpstr>Business Problem</vt:lpstr>
      <vt:lpstr>Setup Steps</vt:lpstr>
      <vt:lpstr>Using Copilot</vt:lpstr>
      <vt:lpstr>Architecture</vt:lpstr>
      <vt:lpstr>Project Structure</vt:lpstr>
      <vt:lpstr>main.py (FastAPI App)</vt:lpstr>
      <vt:lpstr>main.py (Upload Endpoint)</vt:lpstr>
      <vt:lpstr>models.py (SQLModel)</vt:lpstr>
      <vt:lpstr>schemas.py (Pydantic Schemas)</vt:lpstr>
      <vt:lpstr>crud.py (CRUD Logic)</vt:lpstr>
      <vt:lpstr>tests/test_api.py</vt:lpstr>
      <vt:lpstr>GitHub Actions CI</vt:lpstr>
      <vt:lpstr>How Copilot Helps</vt:lpstr>
      <vt:lpstr>Lab Part 1</vt:lpstr>
      <vt:lpstr>Lab Part 2</vt:lpstr>
      <vt:lpstr>Lab Part 3</vt:lpstr>
      <vt:lpstr>CI/CD</vt:lpstr>
      <vt:lpstr>Exercises</vt:lpstr>
      <vt:lpstr>Summary</vt:lpstr>
      <vt:lpstr>PowerPoint Presentation</vt:lpstr>
      <vt:lpstr>Copilot Chat</vt:lpstr>
      <vt:lpstr>Debugging with Copilot</vt:lpstr>
      <vt:lpstr>Documentation</vt:lpstr>
      <vt:lpstr>Unit Testing</vt:lpstr>
      <vt:lpstr>LibreChat Overview</vt:lpstr>
      <vt:lpstr>Why Learn LibreChat</vt:lpstr>
      <vt:lpstr>Prerequisites</vt:lpstr>
      <vt:lpstr>Learning Path: Stage A</vt:lpstr>
      <vt:lpstr>Learning Path: Stage B</vt:lpstr>
      <vt:lpstr>Learning Path: Stage C</vt:lpstr>
      <vt:lpstr>Learning Path: Stage D</vt:lpstr>
      <vt:lpstr>Lab 0: Quick Startup</vt:lpstr>
      <vt:lpstr>Lab 1: Model Switching</vt:lpstr>
      <vt:lpstr>Lab 2: Code Generation</vt:lpstr>
      <vt:lpstr>Lab 3: RAG Upload</vt:lpstr>
      <vt:lpstr>Lab 4: Add Provider</vt:lpstr>
      <vt:lpstr>Lab 5: Deploy LibreChat</vt:lpstr>
      <vt:lpstr>Tabular Comparison of Two Coding Assistants</vt:lpstr>
      <vt:lpstr>Tabular Comparison — Two Coding Assistants (Step-by-Step)</vt:lpstr>
      <vt:lpstr>Learning Objectives</vt:lpstr>
      <vt:lpstr>Quick Overview (One-liners)</vt:lpstr>
      <vt:lpstr>Tabular Comparison — Core Features</vt:lpstr>
      <vt:lpstr>Step-by-step Evaluation Plan</vt:lpstr>
      <vt:lpstr>Lab — Test Setup (Hands-on)</vt:lpstr>
      <vt:lpstr>Lab — Test Scenarios (Execute these)</vt:lpstr>
      <vt:lpstr>Rubric — How to Score Suggestions</vt:lpstr>
      <vt:lpstr>Example — Results Table (Fill this after labs)</vt:lpstr>
      <vt:lpstr>Conclusions &amp; Recommendations</vt:lpstr>
      <vt:lpstr>Demo: MS Copilot in IDE</vt:lpstr>
      <vt:lpstr>Demo: Microsoft Copilot in IDE (Step-by-Step)</vt:lpstr>
      <vt:lpstr>Prerequisites</vt:lpstr>
      <vt:lpstr>What you'll demonstrate</vt:lpstr>
      <vt:lpstr>Step 1 — Install Copilot Extension</vt:lpstr>
      <vt:lpstr>Screenshot — Extensions Marketplace</vt:lpstr>
      <vt:lpstr>Step 2 — Sign in to Microsoft Account</vt:lpstr>
      <vt:lpstr>Step 3 — Enable Copilot in Workspace</vt:lpstr>
      <vt:lpstr>Screenshot — Copilot Signed In / UI</vt:lpstr>
      <vt:lpstr>Step 4 — Generate Code from Comment / Docstring</vt:lpstr>
      <vt:lpstr>Step 5 — Refactor &amp; Improve Code</vt:lpstr>
      <vt:lpstr>Screenshot — Code Suggestion / Acceptance</vt:lpstr>
      <vt:lpstr>Step 6 — Auto-generate Unit Tests</vt:lpstr>
      <vt:lpstr>Step 7 — Use Copilot Chat for Contextual Help</vt:lpstr>
      <vt:lpstr>Step 8 — Settings &amp; Privacy</vt:lpstr>
      <vt:lpstr>Troubleshooting Tips</vt:lpstr>
      <vt:lpstr>Demo Checklist &amp; Resources</vt:lpstr>
      <vt:lpstr>Screenshot — Final Demo View</vt:lpstr>
      <vt:lpstr>PowerPoint Presentation</vt:lpstr>
      <vt:lpstr>Demo: GitHub Copilot in IDE</vt:lpstr>
      <vt:lpstr>Demo: GitHub Copilot in IDE (Step-by-Step)</vt:lpstr>
      <vt:lpstr>Prerequisites</vt:lpstr>
      <vt:lpstr>Step 1 — Install GitHub Copilot Extension</vt:lpstr>
      <vt:lpstr>Step 2 — Sign In with GitHub</vt:lpstr>
      <vt:lpstr>Step 3 — Enable Inline Suggestions</vt:lpstr>
      <vt:lpstr>Step 4 — Generate Code from Comment</vt:lpstr>
      <vt:lpstr>Step 5 — Multi-line Suggestions</vt:lpstr>
      <vt:lpstr>Step 6 — Refactor Using Copilot</vt:lpstr>
      <vt:lpstr>Step 7 — Auto-generate Unit Tests</vt:lpstr>
      <vt:lpstr>Step 8 — Use Copilot Chat for Understanding Code</vt:lpstr>
      <vt:lpstr>Troubleshooting Tips</vt:lpstr>
      <vt:lpstr>Demo Checklist &amp; Next Steps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Kenny Napoleon</cp:lastModifiedBy>
  <cp:revision>12</cp:revision>
  <dcterms:created xsi:type="dcterms:W3CDTF">2013-01-27T09:14:16Z</dcterms:created>
  <dcterms:modified xsi:type="dcterms:W3CDTF">2025-11-21T05:23:22Z</dcterms:modified>
  <cp:category/>
</cp:coreProperties>
</file>