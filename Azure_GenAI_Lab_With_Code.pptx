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>
                <a:solidFill>
                  <a:schemeClr val="accent3">
                    <a:lumMod val="75000"/>
                  </a:schemeClr>
                </a:solidFill>
              </a:rPr>
              <a:t>Hands-On Lab</a:t>
            </a:r>
            <a:r>
              <a:rPr dirty="0"/>
              <a:t>:</a:t>
            </a:r>
          </a:p>
          <a:p>
            <a:r>
              <a:rPr b="1" dirty="0">
                <a:solidFill>
                  <a:srgbClr val="C00000"/>
                </a:solidFill>
              </a:rPr>
              <a:t>Azure + GenAI + Power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Real-World Project</a:t>
            </a:r>
          </a:p>
          <a:p>
            <a:r>
              <a:t>(Customer Support Insights Engine)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2"/>
                </a:solidFill>
              </a:rPr>
              <a:t>Lab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/>
          </a:p>
          <a:p>
            <a:pPr>
              <a:defRPr sz="1600"/>
            </a:pPr>
            <a:r>
              <a:rPr sz="2400" dirty="0"/>
              <a:t>• Build </a:t>
            </a:r>
            <a:r>
              <a:rPr sz="2400" dirty="0" err="1"/>
              <a:t>FastAPI</a:t>
            </a:r>
            <a:r>
              <a:rPr sz="2400" dirty="0"/>
              <a:t> GenAI microservice</a:t>
            </a:r>
          </a:p>
          <a:p>
            <a:pPr>
              <a:defRPr sz="1600"/>
            </a:pPr>
            <a:r>
              <a:rPr sz="2400" dirty="0"/>
              <a:t>• Use GitHub Copilot to generate code</a:t>
            </a:r>
          </a:p>
          <a:p>
            <a:pPr>
              <a:defRPr sz="1600"/>
            </a:pPr>
            <a:r>
              <a:rPr sz="2400" dirty="0"/>
              <a:t>• Containerize using Docker</a:t>
            </a:r>
          </a:p>
          <a:p>
            <a:pPr>
              <a:defRPr sz="1600"/>
            </a:pPr>
            <a:r>
              <a:rPr sz="2400" dirty="0"/>
              <a:t>• Deploy to Azure Container Apps</a:t>
            </a:r>
          </a:p>
          <a:p>
            <a:pPr>
              <a:defRPr sz="1600"/>
            </a:pPr>
            <a:r>
              <a:rPr sz="2400" dirty="0"/>
              <a:t>• Stream results to Power BI</a:t>
            </a:r>
          </a:p>
          <a:p>
            <a:pPr>
              <a:defRPr sz="1600"/>
            </a:pPr>
            <a:r>
              <a:rPr sz="2400" dirty="0"/>
              <a:t>• Real-time dashboard demo</a:t>
            </a:r>
          </a:p>
          <a:p>
            <a:pPr>
              <a:defRPr sz="1600"/>
            </a:pP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3">
                    <a:lumMod val="75000"/>
                  </a:schemeClr>
                </a:solidFill>
              </a:rPr>
              <a:t>Business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1600"/>
            </a:pPr>
            <a:r>
              <a:rPr sz="2800" dirty="0"/>
              <a:t>Analyze customer support tickets</a:t>
            </a:r>
          </a:p>
          <a:p>
            <a:pPr>
              <a:defRPr sz="1600"/>
            </a:pPr>
            <a:r>
              <a:rPr sz="2800" dirty="0"/>
              <a:t>Azure OpenAI → summary, intent, severity, action item</a:t>
            </a:r>
          </a:p>
          <a:p>
            <a:pPr>
              <a:defRPr sz="1600"/>
            </a:pPr>
            <a:r>
              <a:rPr sz="2800" dirty="0"/>
              <a:t>Store &amp; push rows to Power BI streaming dataset</a:t>
            </a:r>
          </a:p>
          <a:p>
            <a:pPr>
              <a:defRPr sz="1600"/>
            </a:pPr>
            <a:r>
              <a:rPr sz="2800" dirty="0"/>
              <a:t>Live triage dashboard for operations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/>
                </a:solidFill>
              </a:rP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1600"/>
            </a:pPr>
            <a:r>
              <a:rPr sz="2800" dirty="0"/>
              <a:t>1. </a:t>
            </a:r>
            <a:r>
              <a:rPr sz="2800" dirty="0" err="1"/>
              <a:t>FastAPI</a:t>
            </a:r>
            <a:r>
              <a:rPr sz="2800" dirty="0"/>
              <a:t> backend (containerized)</a:t>
            </a:r>
          </a:p>
          <a:p>
            <a:pPr>
              <a:defRPr sz="1600"/>
            </a:pPr>
            <a:r>
              <a:rPr sz="2800" dirty="0"/>
              <a:t>2. Azure OpenAI text analytics</a:t>
            </a:r>
          </a:p>
          <a:p>
            <a:pPr>
              <a:defRPr sz="1600"/>
            </a:pPr>
            <a:r>
              <a:rPr sz="2800" dirty="0"/>
              <a:t>3. Power BI streaming dataset</a:t>
            </a:r>
            <a:r>
              <a:rPr lang="en-GB" sz="2800" dirty="0"/>
              <a:t> </a:t>
            </a:r>
            <a:endParaRPr sz="2800" dirty="0"/>
          </a:p>
          <a:p>
            <a:pPr>
              <a:defRPr sz="1600"/>
            </a:pPr>
            <a:r>
              <a:rPr sz="2800" dirty="0"/>
              <a:t>4. GitHub Actions CI/CD</a:t>
            </a:r>
          </a:p>
          <a:p>
            <a:pPr>
              <a:defRPr sz="1600"/>
            </a:pPr>
            <a:r>
              <a:rPr sz="2800" dirty="0"/>
              <a:t>5. Azure Container Apps hosting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41"/>
            <a:ext cx="8229600" cy="1143000"/>
          </a:xfrm>
        </p:spPr>
        <p:txBody>
          <a:bodyPr/>
          <a:lstStyle/>
          <a:p>
            <a:r>
              <a:rPr b="1" dirty="0" err="1">
                <a:solidFill>
                  <a:schemeClr val="accent6">
                    <a:lumMod val="75000"/>
                  </a:schemeClr>
                </a:solidFill>
              </a:rPr>
              <a:t>FastAPI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</a:rPr>
              <a:t> Endpoint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4018"/>
            <a:ext cx="8229600" cy="5611306"/>
          </a:xfrm>
        </p:spPr>
        <p:txBody>
          <a:bodyPr>
            <a:noAutofit/>
          </a:bodyPr>
          <a:lstStyle/>
          <a:p>
            <a:pPr>
              <a:defRPr sz="1600"/>
            </a:pPr>
            <a:r>
              <a:rPr sz="2000" dirty="0"/>
              <a:t>```python</a:t>
            </a:r>
          </a:p>
          <a:p>
            <a:pPr>
              <a:defRPr sz="1600"/>
            </a:pPr>
            <a:r>
              <a:rPr sz="2000" dirty="0"/>
              <a:t>from </a:t>
            </a:r>
            <a:r>
              <a:rPr sz="2000" dirty="0" err="1"/>
              <a:t>fastapi</a:t>
            </a:r>
            <a:r>
              <a:rPr sz="2000" dirty="0"/>
              <a:t> import </a:t>
            </a:r>
            <a:r>
              <a:rPr sz="2000" dirty="0" err="1"/>
              <a:t>FastAPI</a:t>
            </a:r>
            <a:endParaRPr sz="2000" dirty="0"/>
          </a:p>
          <a:p>
            <a:pPr>
              <a:defRPr sz="1600"/>
            </a:pPr>
            <a:r>
              <a:rPr sz="2000" dirty="0"/>
              <a:t>from </a:t>
            </a:r>
            <a:r>
              <a:rPr sz="2000" dirty="0" err="1"/>
              <a:t>pydantic</a:t>
            </a:r>
            <a:r>
              <a:rPr sz="2000" dirty="0"/>
              <a:t> import </a:t>
            </a:r>
            <a:r>
              <a:rPr sz="2000" dirty="0" err="1"/>
              <a:t>BaseModel</a:t>
            </a:r>
            <a:endParaRPr sz="2000" dirty="0"/>
          </a:p>
          <a:p>
            <a:pPr>
              <a:defRPr sz="1600"/>
            </a:pPr>
            <a:r>
              <a:rPr sz="2000" dirty="0"/>
              <a:t>from </a:t>
            </a:r>
            <a:r>
              <a:rPr sz="2000" dirty="0" err="1"/>
              <a:t>openai_client</a:t>
            </a:r>
            <a:r>
              <a:rPr sz="2000" dirty="0"/>
              <a:t> import </a:t>
            </a:r>
            <a:r>
              <a:rPr sz="2000" dirty="0" err="1"/>
              <a:t>analyze_ticket</a:t>
            </a:r>
            <a:endParaRPr sz="2000" dirty="0"/>
          </a:p>
          <a:p>
            <a:pPr>
              <a:defRPr sz="1600"/>
            </a:pPr>
            <a:r>
              <a:rPr sz="2000" dirty="0"/>
              <a:t>from </a:t>
            </a:r>
            <a:r>
              <a:rPr sz="2000" dirty="0" err="1"/>
              <a:t>powerbi_client</a:t>
            </a:r>
            <a:r>
              <a:rPr sz="2000" dirty="0"/>
              <a:t> import </a:t>
            </a:r>
            <a:r>
              <a:rPr sz="2000" dirty="0" err="1"/>
              <a:t>push_row</a:t>
            </a:r>
            <a:endParaRPr sz="2000" dirty="0"/>
          </a:p>
          <a:p>
            <a:pPr>
              <a:defRPr sz="1600"/>
            </a:pPr>
            <a:r>
              <a:rPr sz="2000" dirty="0"/>
              <a:t>app = </a:t>
            </a:r>
            <a:r>
              <a:rPr sz="2000" dirty="0" err="1"/>
              <a:t>FastAPI</a:t>
            </a:r>
            <a:r>
              <a:rPr sz="2000" dirty="0"/>
              <a:t>()</a:t>
            </a:r>
          </a:p>
          <a:p>
            <a:pPr>
              <a:defRPr sz="1600"/>
            </a:pPr>
            <a:r>
              <a:rPr sz="2000" dirty="0"/>
              <a:t>class Ticket(</a:t>
            </a:r>
            <a:r>
              <a:rPr sz="2000" dirty="0" err="1"/>
              <a:t>BaseModel</a:t>
            </a:r>
            <a:r>
              <a:rPr sz="2000" dirty="0"/>
              <a:t>):</a:t>
            </a:r>
          </a:p>
          <a:p>
            <a:pPr>
              <a:defRPr sz="1600"/>
            </a:pPr>
            <a:r>
              <a:rPr sz="2000" dirty="0"/>
              <a:t>    </a:t>
            </a:r>
            <a:r>
              <a:rPr sz="2000" dirty="0" err="1"/>
              <a:t>ticket_id</a:t>
            </a:r>
            <a:r>
              <a:rPr sz="2000" dirty="0"/>
              <a:t>: str</a:t>
            </a:r>
          </a:p>
          <a:p>
            <a:pPr>
              <a:defRPr sz="1600"/>
            </a:pPr>
            <a:r>
              <a:rPr sz="2000" dirty="0"/>
              <a:t>    user: str</a:t>
            </a:r>
          </a:p>
          <a:p>
            <a:pPr>
              <a:defRPr sz="1600"/>
            </a:pPr>
            <a:r>
              <a:rPr sz="2000" dirty="0"/>
              <a:t>    text: str</a:t>
            </a:r>
          </a:p>
          <a:p>
            <a:pPr>
              <a:defRPr sz="1600"/>
            </a:pPr>
            <a:r>
              <a:rPr sz="2000" dirty="0"/>
              <a:t>@app.post("/tickets")</a:t>
            </a:r>
          </a:p>
          <a:p>
            <a:pPr>
              <a:defRPr sz="1600"/>
            </a:pPr>
            <a:r>
              <a:rPr sz="2000" dirty="0"/>
              <a:t>async def </a:t>
            </a:r>
            <a:r>
              <a:rPr sz="2000" dirty="0" err="1"/>
              <a:t>receive_ticket</a:t>
            </a:r>
            <a:r>
              <a:rPr sz="2000" dirty="0"/>
              <a:t>(t: Ticket):</a:t>
            </a:r>
          </a:p>
          <a:p>
            <a:pPr>
              <a:defRPr sz="1600"/>
            </a:pPr>
            <a:r>
              <a:rPr sz="2000" dirty="0"/>
              <a:t>    result = </a:t>
            </a:r>
            <a:r>
              <a:rPr sz="2000" dirty="0" err="1"/>
              <a:t>analyze_ticket</a:t>
            </a:r>
            <a:r>
              <a:rPr sz="2000" dirty="0"/>
              <a:t>(</a:t>
            </a:r>
            <a:r>
              <a:rPr sz="2000" dirty="0" err="1"/>
              <a:t>t.text</a:t>
            </a:r>
            <a:r>
              <a:rPr sz="2000" dirty="0"/>
              <a:t>)</a:t>
            </a:r>
          </a:p>
          <a:p>
            <a:pPr>
              <a:defRPr sz="1600"/>
            </a:pPr>
            <a:r>
              <a:rPr sz="2000" dirty="0"/>
              <a:t>    </a:t>
            </a:r>
            <a:r>
              <a:rPr sz="2000" dirty="0" err="1"/>
              <a:t>push_row</a:t>
            </a:r>
            <a:r>
              <a:rPr sz="2000" dirty="0"/>
              <a:t>({"</a:t>
            </a:r>
            <a:r>
              <a:rPr sz="2000" dirty="0" err="1"/>
              <a:t>ticket_id</a:t>
            </a:r>
            <a:r>
              <a:rPr sz="2000" dirty="0"/>
              <a:t>": </a:t>
            </a:r>
            <a:r>
              <a:rPr sz="2000" dirty="0" err="1"/>
              <a:t>t.ticket_id</a:t>
            </a:r>
            <a:r>
              <a:rPr sz="2000" dirty="0"/>
              <a:t>, **result})</a:t>
            </a:r>
          </a:p>
          <a:p>
            <a:pPr>
              <a:defRPr sz="1600"/>
            </a:pPr>
            <a:r>
              <a:rPr sz="2000" dirty="0"/>
              <a:t>    return {"status": "ok", "analysis": result}</a:t>
            </a:r>
          </a:p>
          <a:p>
            <a:pPr>
              <a:defRPr sz="1600"/>
            </a:pPr>
            <a:r>
              <a:rPr sz="2000" dirty="0"/>
              <a:t>```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3008"/>
            <a:ext cx="8229600" cy="1143000"/>
          </a:xfrm>
        </p:spPr>
        <p:txBody>
          <a:bodyPr/>
          <a:lstStyle/>
          <a:p>
            <a:r>
              <a:rPr b="1" dirty="0">
                <a:solidFill>
                  <a:schemeClr val="bg2">
                    <a:lumMod val="50000"/>
                  </a:schemeClr>
                </a:solidFill>
              </a:rPr>
              <a:t>Azure OpenAI Client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629"/>
            <a:ext cx="8229600" cy="5517037"/>
          </a:xfrm>
        </p:spPr>
        <p:txBody>
          <a:bodyPr>
            <a:noAutofit/>
          </a:bodyPr>
          <a:lstStyle/>
          <a:p>
            <a:pPr>
              <a:defRPr sz="1600"/>
            </a:pPr>
            <a:r>
              <a:rPr sz="2000" dirty="0"/>
              <a:t>```python</a:t>
            </a:r>
          </a:p>
          <a:p>
            <a:pPr>
              <a:defRPr sz="1600"/>
            </a:pPr>
            <a:r>
              <a:rPr sz="2000" dirty="0"/>
              <a:t>from </a:t>
            </a:r>
            <a:r>
              <a:rPr sz="2000" dirty="0" err="1"/>
              <a:t>azure.ai.openai</a:t>
            </a:r>
            <a:r>
              <a:rPr sz="2000" dirty="0"/>
              <a:t> import </a:t>
            </a:r>
            <a:r>
              <a:rPr sz="2000" dirty="0" err="1"/>
              <a:t>OpenAIClient</a:t>
            </a:r>
            <a:endParaRPr sz="2000" dirty="0"/>
          </a:p>
          <a:p>
            <a:pPr>
              <a:defRPr sz="1600"/>
            </a:pPr>
            <a:r>
              <a:rPr sz="2000" dirty="0"/>
              <a:t>from </a:t>
            </a:r>
            <a:r>
              <a:rPr sz="2000" dirty="0" err="1"/>
              <a:t>azure.identity</a:t>
            </a:r>
            <a:r>
              <a:rPr sz="2000" dirty="0"/>
              <a:t> import </a:t>
            </a:r>
            <a:r>
              <a:rPr sz="2000" dirty="0" err="1"/>
              <a:t>DefaultAzureCredential</a:t>
            </a:r>
            <a:endParaRPr sz="2000" dirty="0"/>
          </a:p>
          <a:p>
            <a:pPr>
              <a:defRPr sz="1600"/>
            </a:pPr>
            <a:r>
              <a:rPr sz="2000" dirty="0"/>
              <a:t>import </a:t>
            </a:r>
            <a:r>
              <a:rPr sz="2000" dirty="0" err="1"/>
              <a:t>json</a:t>
            </a:r>
            <a:endParaRPr sz="2000" dirty="0"/>
          </a:p>
          <a:p>
            <a:pPr>
              <a:defRPr sz="1600"/>
            </a:pPr>
            <a:endParaRPr sz="2000" dirty="0"/>
          </a:p>
          <a:p>
            <a:pPr>
              <a:defRPr sz="1600"/>
            </a:pPr>
            <a:r>
              <a:rPr sz="2000" dirty="0"/>
              <a:t>def </a:t>
            </a:r>
            <a:r>
              <a:rPr sz="2000" dirty="0" err="1"/>
              <a:t>analyze_ticket</a:t>
            </a:r>
            <a:r>
              <a:rPr sz="2000" dirty="0"/>
              <a:t>(text):</a:t>
            </a:r>
          </a:p>
          <a:p>
            <a:pPr>
              <a:defRPr sz="1600"/>
            </a:pPr>
            <a:r>
              <a:rPr sz="2000" dirty="0"/>
              <a:t>    client = </a:t>
            </a:r>
            <a:r>
              <a:rPr sz="2000" dirty="0" err="1"/>
              <a:t>OpenAIClient</a:t>
            </a:r>
            <a:r>
              <a:rPr sz="2000" dirty="0"/>
              <a:t>(</a:t>
            </a:r>
            <a:r>
              <a:rPr sz="2000" dirty="0" err="1"/>
              <a:t>os.getenv</a:t>
            </a:r>
            <a:r>
              <a:rPr sz="2000" dirty="0"/>
              <a:t>('AZ_OAI_EP'), </a:t>
            </a:r>
            <a:r>
              <a:rPr sz="2000" dirty="0" err="1"/>
              <a:t>DefaultAzureCredential</a:t>
            </a:r>
            <a:r>
              <a:rPr sz="2000" dirty="0"/>
              <a:t>())</a:t>
            </a:r>
          </a:p>
          <a:p>
            <a:pPr>
              <a:defRPr sz="1600"/>
            </a:pPr>
            <a:r>
              <a:rPr sz="2000" dirty="0"/>
              <a:t>    prompt = </a:t>
            </a:r>
            <a:r>
              <a:rPr sz="2000" dirty="0" err="1"/>
              <a:t>f"Return</a:t>
            </a:r>
            <a:r>
              <a:rPr sz="2000" dirty="0"/>
              <a:t> JSON with </a:t>
            </a:r>
            <a:r>
              <a:rPr sz="2000" dirty="0" err="1"/>
              <a:t>summary,intent,severity,action</a:t>
            </a:r>
            <a:r>
              <a:rPr sz="2000" dirty="0"/>
              <a:t> for: {text}"</a:t>
            </a:r>
          </a:p>
          <a:p>
            <a:pPr>
              <a:defRPr sz="1600"/>
            </a:pPr>
            <a:r>
              <a:rPr sz="2000" dirty="0"/>
              <a:t>    resp = </a:t>
            </a:r>
            <a:r>
              <a:rPr sz="2000" dirty="0" err="1"/>
              <a:t>client.get_chat_completions</a:t>
            </a:r>
            <a:r>
              <a:rPr sz="2000" dirty="0"/>
              <a:t>(</a:t>
            </a:r>
          </a:p>
          <a:p>
            <a:pPr>
              <a:defRPr sz="1600"/>
            </a:pPr>
            <a:r>
              <a:rPr sz="2000" dirty="0"/>
              <a:t>        </a:t>
            </a:r>
            <a:r>
              <a:rPr sz="2000" dirty="0" err="1"/>
              <a:t>deployment_id</a:t>
            </a:r>
            <a:r>
              <a:rPr sz="2000" dirty="0"/>
              <a:t>=</a:t>
            </a:r>
            <a:r>
              <a:rPr sz="2000" dirty="0" err="1"/>
              <a:t>os.getenv</a:t>
            </a:r>
            <a:r>
              <a:rPr sz="2000" dirty="0"/>
              <a:t>('AZ_OAI_DEPLOY'),</a:t>
            </a:r>
          </a:p>
          <a:p>
            <a:pPr>
              <a:defRPr sz="1600"/>
            </a:pPr>
            <a:r>
              <a:rPr sz="2000" dirty="0"/>
              <a:t>        messages=[{"role": "user", "content": prompt}]</a:t>
            </a:r>
          </a:p>
          <a:p>
            <a:pPr>
              <a:defRPr sz="1600"/>
            </a:pPr>
            <a:r>
              <a:rPr sz="2000" dirty="0"/>
              <a:t>    )</a:t>
            </a:r>
          </a:p>
          <a:p>
            <a:pPr>
              <a:defRPr sz="1600"/>
            </a:pPr>
            <a:r>
              <a:rPr sz="2000" dirty="0"/>
              <a:t>    return </a:t>
            </a:r>
            <a:r>
              <a:rPr sz="2000" dirty="0" err="1"/>
              <a:t>json.loads</a:t>
            </a:r>
            <a:r>
              <a:rPr sz="2000" dirty="0"/>
              <a:t>(</a:t>
            </a:r>
            <a:r>
              <a:rPr sz="2000" dirty="0" err="1"/>
              <a:t>resp.choices</a:t>
            </a:r>
            <a:r>
              <a:rPr sz="2000" dirty="0"/>
              <a:t>[0].</a:t>
            </a:r>
            <a:r>
              <a:rPr sz="2000" dirty="0" err="1"/>
              <a:t>message.content</a:t>
            </a:r>
            <a:r>
              <a:rPr sz="2000" dirty="0"/>
              <a:t>)</a:t>
            </a:r>
          </a:p>
          <a:p>
            <a:pPr>
              <a:defRPr sz="1600"/>
            </a:pPr>
            <a:r>
              <a:rPr sz="2000" dirty="0"/>
              <a:t>```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77849"/>
            <a:ext cx="8229600" cy="1143000"/>
          </a:xfrm>
        </p:spPr>
        <p:txBody>
          <a:bodyPr/>
          <a:lstStyle/>
          <a:p>
            <a:r>
              <a:rPr b="1" dirty="0">
                <a:solidFill>
                  <a:schemeClr val="bg1">
                    <a:lumMod val="65000"/>
                  </a:schemeClr>
                </a:solidFill>
              </a:rPr>
              <a:t>Power BI Push Dataset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0068"/>
            <a:ext cx="8229600" cy="5573598"/>
          </a:xfrm>
        </p:spPr>
        <p:txBody>
          <a:bodyPr>
            <a:noAutofit/>
          </a:bodyPr>
          <a:lstStyle/>
          <a:p>
            <a:pPr>
              <a:defRPr sz="1600"/>
            </a:pPr>
            <a:r>
              <a:rPr sz="2400" dirty="0"/>
              <a:t>```python</a:t>
            </a:r>
          </a:p>
          <a:p>
            <a:pPr>
              <a:defRPr sz="1600"/>
            </a:pPr>
            <a:r>
              <a:rPr sz="2400" dirty="0"/>
              <a:t>import requests, </a:t>
            </a:r>
            <a:r>
              <a:rPr sz="2400" dirty="0" err="1"/>
              <a:t>os</a:t>
            </a:r>
            <a:endParaRPr sz="2400" dirty="0"/>
          </a:p>
          <a:p>
            <a:pPr>
              <a:defRPr sz="1600"/>
            </a:pPr>
            <a:r>
              <a:rPr sz="2400" dirty="0"/>
              <a:t>def </a:t>
            </a:r>
            <a:r>
              <a:rPr sz="2400" dirty="0" err="1"/>
              <a:t>push_row</a:t>
            </a:r>
            <a:r>
              <a:rPr sz="2400" dirty="0"/>
              <a:t>(row):</a:t>
            </a:r>
          </a:p>
          <a:p>
            <a:pPr>
              <a:defRPr sz="1600"/>
            </a:pPr>
            <a:r>
              <a:rPr sz="2400" dirty="0"/>
              <a:t>    url = </a:t>
            </a:r>
            <a:r>
              <a:rPr sz="2400" dirty="0" err="1"/>
              <a:t>f"https</a:t>
            </a:r>
            <a:r>
              <a:rPr sz="2400" dirty="0"/>
              <a:t>://api.powerbi.com/v1.0/</a:t>
            </a:r>
            <a:r>
              <a:rPr sz="2400" dirty="0" err="1"/>
              <a:t>myorg</a:t>
            </a:r>
            <a:r>
              <a:rPr sz="2400" dirty="0"/>
              <a:t>/datasets/{</a:t>
            </a:r>
            <a:r>
              <a:rPr sz="2400" dirty="0" err="1"/>
              <a:t>os.getenv</a:t>
            </a:r>
            <a:r>
              <a:rPr sz="2400" dirty="0"/>
              <a:t>('PBI_DS')}/tables/Tickets/rows"</a:t>
            </a:r>
          </a:p>
          <a:p>
            <a:pPr>
              <a:defRPr sz="1600"/>
            </a:pPr>
            <a:r>
              <a:rPr sz="2400" dirty="0"/>
              <a:t>    headers = {"Authorization": </a:t>
            </a:r>
            <a:r>
              <a:rPr sz="2400" dirty="0" err="1"/>
              <a:t>f"Bearer</a:t>
            </a:r>
            <a:r>
              <a:rPr sz="2400" dirty="0"/>
              <a:t> {</a:t>
            </a:r>
            <a:r>
              <a:rPr sz="2400" dirty="0" err="1"/>
              <a:t>os.getenv</a:t>
            </a:r>
            <a:r>
              <a:rPr sz="2400" dirty="0"/>
              <a:t>('PBI_TOKEN')}", "Content-Type": "application/</a:t>
            </a:r>
            <a:r>
              <a:rPr sz="2400" dirty="0" err="1"/>
              <a:t>json</a:t>
            </a:r>
            <a:r>
              <a:rPr sz="2400" dirty="0"/>
              <a:t>"}</a:t>
            </a:r>
          </a:p>
          <a:p>
            <a:pPr>
              <a:defRPr sz="1600"/>
            </a:pPr>
            <a:r>
              <a:rPr sz="2400" dirty="0"/>
              <a:t>    </a:t>
            </a:r>
            <a:r>
              <a:rPr sz="2400" dirty="0" err="1"/>
              <a:t>requests.post</a:t>
            </a:r>
            <a:r>
              <a:rPr sz="2400" dirty="0"/>
              <a:t>(url, headers=headers, </a:t>
            </a:r>
            <a:r>
              <a:rPr sz="2400" dirty="0" err="1"/>
              <a:t>json</a:t>
            </a:r>
            <a:r>
              <a:rPr sz="2400" dirty="0"/>
              <a:t>={"rows": [row]}).</a:t>
            </a:r>
            <a:r>
              <a:rPr sz="2400" dirty="0" err="1"/>
              <a:t>raise_for_status</a:t>
            </a:r>
            <a:r>
              <a:rPr sz="2400" dirty="0"/>
              <a:t>()</a:t>
            </a:r>
          </a:p>
          <a:p>
            <a:pPr>
              <a:defRPr sz="1600"/>
            </a:pPr>
            <a:r>
              <a:rPr sz="2400" dirty="0"/>
              <a:t>```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61"/>
            <a:ext cx="8229600" cy="1143000"/>
          </a:xfrm>
        </p:spPr>
        <p:txBody>
          <a:bodyPr/>
          <a:lstStyle/>
          <a:p>
            <a:r>
              <a:rPr b="1" dirty="0" err="1"/>
              <a:t>Dockerfile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>
              <a:defRPr sz="1600"/>
            </a:pPr>
            <a:r>
              <a:rPr sz="2400" dirty="0"/>
              <a:t>```</a:t>
            </a:r>
            <a:r>
              <a:rPr sz="2400" dirty="0" err="1"/>
              <a:t>dockerfile</a:t>
            </a:r>
            <a:endParaRPr sz="2400" dirty="0"/>
          </a:p>
          <a:p>
            <a:pPr>
              <a:defRPr sz="1600"/>
            </a:pPr>
            <a:r>
              <a:rPr sz="2400" dirty="0"/>
              <a:t>FROM python:3.11-slim</a:t>
            </a:r>
          </a:p>
          <a:p>
            <a:pPr>
              <a:defRPr sz="1600"/>
            </a:pPr>
            <a:r>
              <a:rPr sz="2400" dirty="0"/>
              <a:t>WORKDIR /app</a:t>
            </a:r>
          </a:p>
          <a:p>
            <a:pPr>
              <a:defRPr sz="1600"/>
            </a:pPr>
            <a:r>
              <a:rPr sz="2400" dirty="0"/>
              <a:t>COPY requirements.txt .</a:t>
            </a:r>
          </a:p>
          <a:p>
            <a:pPr>
              <a:defRPr sz="1600"/>
            </a:pPr>
            <a:r>
              <a:rPr sz="2400" dirty="0"/>
              <a:t>RUN pip install -r requirements.txt</a:t>
            </a:r>
          </a:p>
          <a:p>
            <a:pPr>
              <a:defRPr sz="1600"/>
            </a:pPr>
            <a:r>
              <a:rPr sz="2400" dirty="0"/>
              <a:t>COPY . .</a:t>
            </a:r>
          </a:p>
          <a:p>
            <a:pPr>
              <a:defRPr sz="1600"/>
            </a:pPr>
            <a:r>
              <a:rPr sz="2400" dirty="0"/>
              <a:t>CMD ["</a:t>
            </a:r>
            <a:r>
              <a:rPr sz="2400" dirty="0" err="1"/>
              <a:t>uvicorn</a:t>
            </a:r>
            <a:r>
              <a:rPr sz="2400" dirty="0"/>
              <a:t>", "</a:t>
            </a:r>
            <a:r>
              <a:rPr sz="2400" dirty="0" err="1"/>
              <a:t>main:app</a:t>
            </a:r>
            <a:r>
              <a:rPr sz="2400" dirty="0"/>
              <a:t>", "--host", "0.0.0.0", "--port", "8080"]</a:t>
            </a:r>
          </a:p>
          <a:p>
            <a:pPr>
              <a:defRPr sz="1600"/>
            </a:pPr>
            <a:r>
              <a:rPr sz="2400" dirty="0"/>
              <a:t>```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30715"/>
            <a:ext cx="8229600" cy="1143000"/>
          </a:xfrm>
        </p:spPr>
        <p:txBody>
          <a:bodyPr/>
          <a:lstStyle/>
          <a:p>
            <a:r>
              <a:rPr dirty="0"/>
              <a:t>GitHub Actions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0324"/>
            <a:ext cx="8229600" cy="5385062"/>
          </a:xfrm>
        </p:spPr>
        <p:txBody>
          <a:bodyPr>
            <a:noAutofit/>
          </a:bodyPr>
          <a:lstStyle/>
          <a:p>
            <a:pPr>
              <a:defRPr sz="1600"/>
            </a:pPr>
            <a:r>
              <a:rPr sz="1800" dirty="0"/>
              <a:t>```</a:t>
            </a:r>
            <a:r>
              <a:rPr sz="1800" dirty="0" err="1"/>
              <a:t>yaml</a:t>
            </a:r>
            <a:endParaRPr sz="1800" dirty="0"/>
          </a:p>
          <a:p>
            <a:pPr>
              <a:defRPr sz="1600"/>
            </a:pPr>
            <a:r>
              <a:rPr sz="1800" dirty="0"/>
              <a:t>name: CI-CD</a:t>
            </a:r>
          </a:p>
          <a:p>
            <a:pPr>
              <a:defRPr sz="1600"/>
            </a:pPr>
            <a:r>
              <a:rPr sz="1800" dirty="0"/>
              <a:t>on: [push]</a:t>
            </a:r>
          </a:p>
          <a:p>
            <a:pPr>
              <a:defRPr sz="1600"/>
            </a:pPr>
            <a:r>
              <a:rPr sz="1800" dirty="0"/>
              <a:t>jobs:</a:t>
            </a:r>
          </a:p>
          <a:p>
            <a:pPr>
              <a:defRPr sz="1600"/>
            </a:pPr>
            <a:r>
              <a:rPr sz="1800" dirty="0"/>
              <a:t>  build-deploy:</a:t>
            </a:r>
          </a:p>
          <a:p>
            <a:pPr>
              <a:defRPr sz="1600"/>
            </a:pPr>
            <a:r>
              <a:rPr sz="1800" dirty="0"/>
              <a:t>    runs-on: ubuntu-latest</a:t>
            </a:r>
          </a:p>
          <a:p>
            <a:pPr>
              <a:defRPr sz="1600"/>
            </a:pPr>
            <a:r>
              <a:rPr sz="1800" dirty="0"/>
              <a:t>    steps:</a:t>
            </a:r>
          </a:p>
          <a:p>
            <a:pPr>
              <a:defRPr sz="1600"/>
            </a:pPr>
            <a:r>
              <a:rPr sz="1800" dirty="0"/>
              <a:t>    - uses: actions/checkout@v4</a:t>
            </a:r>
          </a:p>
          <a:p>
            <a:pPr>
              <a:defRPr sz="1600"/>
            </a:pPr>
            <a:r>
              <a:rPr sz="1800" dirty="0"/>
              <a:t>    - uses: azure/login@v1</a:t>
            </a:r>
          </a:p>
          <a:p>
            <a:pPr>
              <a:defRPr sz="1600"/>
            </a:pPr>
            <a:r>
              <a:rPr sz="1800" dirty="0"/>
              <a:t>      with: creds: ${{ </a:t>
            </a:r>
            <a:r>
              <a:rPr sz="1800" dirty="0" err="1"/>
              <a:t>secrets.AZ_CREDENTIALS</a:t>
            </a:r>
            <a:r>
              <a:rPr sz="1800" dirty="0"/>
              <a:t> }}</a:t>
            </a:r>
          </a:p>
          <a:p>
            <a:pPr>
              <a:defRPr sz="1600"/>
            </a:pPr>
            <a:r>
              <a:rPr sz="1800" dirty="0"/>
              <a:t>    - uses: docker/build-push-action@v5</a:t>
            </a:r>
          </a:p>
          <a:p>
            <a:pPr>
              <a:defRPr sz="1600"/>
            </a:pPr>
            <a:r>
              <a:rPr sz="1800" dirty="0"/>
              <a:t>      with:</a:t>
            </a:r>
          </a:p>
          <a:p>
            <a:pPr>
              <a:defRPr sz="1600"/>
            </a:pPr>
            <a:r>
              <a:rPr sz="1800" dirty="0"/>
              <a:t>        context: ./app</a:t>
            </a:r>
          </a:p>
          <a:p>
            <a:pPr>
              <a:defRPr sz="1600"/>
            </a:pPr>
            <a:r>
              <a:rPr sz="1800" dirty="0"/>
              <a:t>        push: true</a:t>
            </a:r>
          </a:p>
          <a:p>
            <a:pPr>
              <a:defRPr sz="1600"/>
            </a:pPr>
            <a:r>
              <a:rPr sz="1800" dirty="0"/>
              <a:t>        tags: ${{ </a:t>
            </a:r>
            <a:r>
              <a:rPr sz="1800" dirty="0" err="1"/>
              <a:t>secrets.ACR</a:t>
            </a:r>
            <a:r>
              <a:rPr sz="1800" dirty="0"/>
              <a:t> }}/support:${{ </a:t>
            </a:r>
            <a:r>
              <a:rPr sz="1800" dirty="0" err="1"/>
              <a:t>github.sha</a:t>
            </a:r>
            <a:r>
              <a:rPr sz="1800" dirty="0"/>
              <a:t> }}</a:t>
            </a:r>
          </a:p>
          <a:p>
            <a:pPr>
              <a:defRPr sz="1600"/>
            </a:pPr>
            <a:r>
              <a:rPr sz="1800" dirty="0"/>
              <a:t>```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598</Words>
  <Application>Microsoft Office PowerPoint</Application>
  <PresentationFormat>On-screen Show (4:3)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Hands-On Lab: Azure + GenAI + Power BI</vt:lpstr>
      <vt:lpstr>Lab Agenda</vt:lpstr>
      <vt:lpstr>Business Use Case</vt:lpstr>
      <vt:lpstr>Architecture Overview</vt:lpstr>
      <vt:lpstr>FastAPI Endpoint Code</vt:lpstr>
      <vt:lpstr>Azure OpenAI Client Code</vt:lpstr>
      <vt:lpstr>Power BI Push Dataset Code</vt:lpstr>
      <vt:lpstr>Dockerfile</vt:lpstr>
      <vt:lpstr>GitHub Actions CI/CD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Kenny Napoleon</cp:lastModifiedBy>
  <cp:revision>2</cp:revision>
  <dcterms:created xsi:type="dcterms:W3CDTF">2013-01-27T09:14:16Z</dcterms:created>
  <dcterms:modified xsi:type="dcterms:W3CDTF">2025-11-21T05:55:45Z</dcterms:modified>
  <cp:category/>
</cp:coreProperties>
</file>