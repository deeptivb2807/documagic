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4" r:id="rId3"/>
    <p:sldId id="257" r:id="rId4"/>
    <p:sldId id="276" r:id="rId5"/>
    <p:sldId id="275" r:id="rId6"/>
    <p:sldId id="258" r:id="rId7"/>
    <p:sldId id="277" r:id="rId8"/>
    <p:sldId id="259" r:id="rId9"/>
    <p:sldId id="278" r:id="rId10"/>
    <p:sldId id="279" r:id="rId11"/>
    <p:sldId id="280" r:id="rId12"/>
    <p:sldId id="260" r:id="rId13"/>
    <p:sldId id="281" r:id="rId14"/>
    <p:sldId id="282" r:id="rId15"/>
    <p:sldId id="283" r:id="rId16"/>
    <p:sldId id="284" r:id="rId17"/>
    <p:sldId id="285" r:id="rId18"/>
    <p:sldId id="286" r:id="rId19"/>
    <p:sldId id="287" r:id="rId20"/>
    <p:sldId id="288" r:id="rId21"/>
    <p:sldId id="289" r:id="rId22"/>
    <p:sldId id="290" r:id="rId23"/>
    <p:sldId id="291" r:id="rId24"/>
    <p:sldId id="292" r:id="rId25"/>
    <p:sldId id="261" r:id="rId26"/>
    <p:sldId id="293" r:id="rId27"/>
    <p:sldId id="339" r:id="rId28"/>
    <p:sldId id="331" r:id="rId29"/>
    <p:sldId id="332" r:id="rId30"/>
    <p:sldId id="333" r:id="rId31"/>
    <p:sldId id="334" r:id="rId32"/>
    <p:sldId id="335" r:id="rId33"/>
    <p:sldId id="336" r:id="rId34"/>
    <p:sldId id="337" r:id="rId35"/>
    <p:sldId id="338" r:id="rId36"/>
    <p:sldId id="262" r:id="rId37"/>
    <p:sldId id="295" r:id="rId38"/>
    <p:sldId id="296" r:id="rId39"/>
    <p:sldId id="297" r:id="rId40"/>
    <p:sldId id="298" r:id="rId41"/>
    <p:sldId id="299" r:id="rId42"/>
    <p:sldId id="300" r:id="rId43"/>
    <p:sldId id="301" r:id="rId44"/>
    <p:sldId id="302" r:id="rId45"/>
    <p:sldId id="303" r:id="rId46"/>
    <p:sldId id="304" r:id="rId47"/>
    <p:sldId id="263" r:id="rId48"/>
    <p:sldId id="308" r:id="rId49"/>
    <p:sldId id="309" r:id="rId50"/>
    <p:sldId id="310" r:id="rId51"/>
    <p:sldId id="311" r:id="rId52"/>
    <p:sldId id="312" r:id="rId53"/>
    <p:sldId id="313" r:id="rId54"/>
    <p:sldId id="314" r:id="rId55"/>
    <p:sldId id="315" r:id="rId56"/>
    <p:sldId id="316" r:id="rId57"/>
    <p:sldId id="317" r:id="rId58"/>
    <p:sldId id="318" r:id="rId59"/>
    <p:sldId id="264" r:id="rId60"/>
    <p:sldId id="319" r:id="rId61"/>
    <p:sldId id="320" r:id="rId62"/>
    <p:sldId id="321" r:id="rId63"/>
    <p:sldId id="322" r:id="rId64"/>
    <p:sldId id="323" r:id="rId65"/>
    <p:sldId id="324" r:id="rId66"/>
    <p:sldId id="325" r:id="rId67"/>
    <p:sldId id="326" r:id="rId68"/>
    <p:sldId id="327" r:id="rId69"/>
    <p:sldId id="328" r:id="rId70"/>
    <p:sldId id="329" r:id="rId71"/>
    <p:sldId id="330" r:id="rId72"/>
    <p:sldId id="265" r:id="rId73"/>
    <p:sldId id="266" r:id="rId74"/>
    <p:sldId id="267" r:id="rId75"/>
    <p:sldId id="268" r:id="rId76"/>
    <p:sldId id="269" r:id="rId77"/>
    <p:sldId id="270" r:id="rId78"/>
    <p:sldId id="271" r:id="rId79"/>
    <p:sldId id="272" r:id="rId80"/>
    <p:sldId id="273" r:id="rId8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8206" autoAdjust="0"/>
    <p:restoredTop sz="94660"/>
  </p:normalViewPr>
  <p:slideViewPr>
    <p:cSldViewPr snapToGrid="0" snapToObjects="1">
      <p:cViewPr varScale="1">
        <p:scale>
          <a:sx n="81" d="100"/>
          <a:sy n="81" d="100"/>
        </p:scale>
        <p:origin x="917"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learn.microsoft.com/en-us/azure/azure-portal/azure-portal-overview#portal-menu" TargetMode="External"/><Relationship Id="rId2" Type="http://schemas.openxmlformats.org/officeDocument/2006/relationships/hyperlink" Target="https://portal.azure.com/" TargetMode="External"/><Relationship Id="rId1" Type="http://schemas.openxmlformats.org/officeDocument/2006/relationships/slideLayout" Target="../slideLayouts/slideLayout7.xml"/><Relationship Id="rId4" Type="http://schemas.openxmlformats.org/officeDocument/2006/relationships/hyperlink" Target="https://learn.microsoft.com/en-us/azure/azure-portal/azure-portal-overview#service-menu"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Basics of Cloud &amp; Azure</a:t>
            </a:r>
          </a:p>
        </p:txBody>
      </p:sp>
      <p:sp>
        <p:nvSpPr>
          <p:cNvPr id="3" name="Subtitle 2"/>
          <p:cNvSpPr>
            <a:spLocks noGrp="1"/>
          </p:cNvSpPr>
          <p:nvPr>
            <p:ph type="subTitle" idx="1"/>
          </p:nvPr>
        </p:nvSpPr>
        <p:spPr/>
        <p:txBody>
          <a:bodyPr/>
          <a:lstStyle/>
          <a:p>
            <a:r>
              <a:t>Classroom Training PPT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Unveiling the Powerhouse: Exploring Microsoft's Azure Cloud ...">
            <a:extLst>
              <a:ext uri="{FF2B5EF4-FFF2-40B4-BE49-F238E27FC236}">
                <a16:creationId xmlns:a16="http://schemas.microsoft.com/office/drawing/2014/main" id="{ADA22627-D801-B995-B093-FB77312E5B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536" y="179109"/>
            <a:ext cx="8672660" cy="65139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6593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Cloud Computing?</a:t>
            </a:r>
          </a:p>
        </p:txBody>
      </p:sp>
      <p:sp>
        <p:nvSpPr>
          <p:cNvPr id="3" name="Content Placeholder 2"/>
          <p:cNvSpPr>
            <a:spLocks noGrp="1"/>
          </p:cNvSpPr>
          <p:nvPr>
            <p:ph idx="1"/>
          </p:nvPr>
        </p:nvSpPr>
        <p:spPr/>
        <p:txBody>
          <a:bodyPr/>
          <a:lstStyle/>
          <a:p>
            <a:endParaRPr/>
          </a:p>
          <a:p>
            <a:r>
              <a:t>On-demand access to computing resources over the internet</a:t>
            </a:r>
          </a:p>
          <a:p>
            <a:r>
              <a:t>Elasticity, scalability, pay-as-you-go</a:t>
            </a:r>
          </a:p>
          <a:p>
            <a:r>
              <a:t>Cloud deployment models: Public, Private, Hybrid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zure Services - Mindquad Solutions Pvt Ltd">
            <a:extLst>
              <a:ext uri="{FF2B5EF4-FFF2-40B4-BE49-F238E27FC236}">
                <a16:creationId xmlns:a16="http://schemas.microsoft.com/office/drawing/2014/main" id="{5DD50B8F-2321-F928-B4A9-528B4EB660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671" y="335829"/>
            <a:ext cx="8768499" cy="62440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5903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Azure Architecture Diagram (With Labeled Components)</a:t>
            </a:r>
          </a:p>
        </p:txBody>
      </p:sp>
      <p:sp>
        <p:nvSpPr>
          <p:cNvPr id="3" name="Rounded Rectangle 2"/>
          <p:cNvSpPr/>
          <p:nvPr/>
        </p:nvSpPr>
        <p:spPr>
          <a:xfrm>
            <a:off x="457200" y="2473593"/>
            <a:ext cx="201168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t>Virtual Network (VNet)</a:t>
            </a:r>
          </a:p>
        </p:txBody>
      </p:sp>
      <p:sp>
        <p:nvSpPr>
          <p:cNvPr id="4" name="Rounded Rectangle 3"/>
          <p:cNvSpPr/>
          <p:nvPr/>
        </p:nvSpPr>
        <p:spPr>
          <a:xfrm>
            <a:off x="2743200" y="2514600"/>
            <a:ext cx="201168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t>Subnets</a:t>
            </a:r>
          </a:p>
        </p:txBody>
      </p:sp>
      <p:sp>
        <p:nvSpPr>
          <p:cNvPr id="5" name="Rounded Rectangle 4"/>
          <p:cNvSpPr/>
          <p:nvPr/>
        </p:nvSpPr>
        <p:spPr>
          <a:xfrm>
            <a:off x="5029200" y="2514600"/>
            <a:ext cx="201168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t>Network Security Group (NSG)</a:t>
            </a:r>
          </a:p>
        </p:txBody>
      </p:sp>
      <p:sp>
        <p:nvSpPr>
          <p:cNvPr id="6" name="Rounded Rectangle 5"/>
          <p:cNvSpPr/>
          <p:nvPr/>
        </p:nvSpPr>
        <p:spPr>
          <a:xfrm>
            <a:off x="457200" y="3927207"/>
            <a:ext cx="201168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t>Azure VM</a:t>
            </a:r>
          </a:p>
        </p:txBody>
      </p:sp>
      <p:sp>
        <p:nvSpPr>
          <p:cNvPr id="7" name="Rounded Rectangle 6"/>
          <p:cNvSpPr/>
          <p:nvPr/>
        </p:nvSpPr>
        <p:spPr>
          <a:xfrm>
            <a:off x="2743200" y="3927207"/>
            <a:ext cx="201168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t>Azure Storage Account</a:t>
            </a:r>
          </a:p>
        </p:txBody>
      </p:sp>
      <p:sp>
        <p:nvSpPr>
          <p:cNvPr id="8" name="Rounded Rectangle 7"/>
          <p:cNvSpPr/>
          <p:nvPr/>
        </p:nvSpPr>
        <p:spPr>
          <a:xfrm>
            <a:off x="5029200" y="3927207"/>
            <a:ext cx="201168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t>Blob Storage</a:t>
            </a:r>
          </a:p>
        </p:txBody>
      </p:sp>
      <p:sp>
        <p:nvSpPr>
          <p:cNvPr id="9" name="Rounded Rectangle 8"/>
          <p:cNvSpPr/>
          <p:nvPr/>
        </p:nvSpPr>
        <p:spPr>
          <a:xfrm>
            <a:off x="457200" y="5212080"/>
            <a:ext cx="201168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rPr dirty="0"/>
              <a:t>Azure App Service</a:t>
            </a:r>
          </a:p>
        </p:txBody>
      </p:sp>
      <p:sp>
        <p:nvSpPr>
          <p:cNvPr id="10" name="Rounded Rectangle 9"/>
          <p:cNvSpPr/>
          <p:nvPr/>
        </p:nvSpPr>
        <p:spPr>
          <a:xfrm>
            <a:off x="2743200" y="5212080"/>
            <a:ext cx="201168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t>Azure SQL DB</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Azure Cloud Overview</a:t>
            </a:r>
          </a:p>
        </p:txBody>
      </p:sp>
      <p:sp>
        <p:nvSpPr>
          <p:cNvPr id="3" name="Content Placeholder 2"/>
          <p:cNvSpPr>
            <a:spLocks noGrp="1"/>
          </p:cNvSpPr>
          <p:nvPr>
            <p:ph idx="1"/>
          </p:nvPr>
        </p:nvSpPr>
        <p:spPr/>
        <p:txBody>
          <a:bodyPr/>
          <a:lstStyle/>
          <a:p>
            <a:endParaRPr/>
          </a:p>
          <a:p>
            <a:r>
              <a:t>Microsoft’s cloud computing platform</a:t>
            </a:r>
          </a:p>
          <a:p>
            <a:r>
              <a:t>Global infrastructure: Regions &amp; Availability Zones</a:t>
            </a:r>
          </a:p>
          <a:p>
            <a:r>
              <a:t>Azure Resource Manager (ARM)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ow Microsoft Azure Works? - GeeksforGeeks">
            <a:extLst>
              <a:ext uri="{FF2B5EF4-FFF2-40B4-BE49-F238E27FC236}">
                <a16:creationId xmlns:a16="http://schemas.microsoft.com/office/drawing/2014/main" id="{ECBBF67B-FDDB-C3CC-D4C0-35CE8EA1D9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256" y="216521"/>
            <a:ext cx="8804635" cy="63822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6690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Azure Portal Navigation</a:t>
            </a:r>
          </a:p>
        </p:txBody>
      </p:sp>
      <p:sp>
        <p:nvSpPr>
          <p:cNvPr id="3" name="Content Placeholder 2"/>
          <p:cNvSpPr>
            <a:spLocks noGrp="1"/>
          </p:cNvSpPr>
          <p:nvPr>
            <p:ph idx="1"/>
          </p:nvPr>
        </p:nvSpPr>
        <p:spPr/>
        <p:txBody>
          <a:bodyPr/>
          <a:lstStyle/>
          <a:p>
            <a:endParaRPr/>
          </a:p>
          <a:p>
            <a:r>
              <a:t>Dashboard and favorites</a:t>
            </a:r>
          </a:p>
          <a:p>
            <a:r>
              <a:t>Search bar for services</a:t>
            </a:r>
          </a:p>
          <a:p>
            <a:r>
              <a:t>Resource groups and subscription overview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C31E66-D8D5-7DCC-8FB4-55DDE00C9813}"/>
              </a:ext>
            </a:extLst>
          </p:cNvPr>
          <p:cNvSpPr txBox="1"/>
          <p:nvPr/>
        </p:nvSpPr>
        <p:spPr>
          <a:xfrm>
            <a:off x="75414" y="61203"/>
            <a:ext cx="8974318" cy="6001643"/>
          </a:xfrm>
          <a:prstGeom prst="rect">
            <a:avLst/>
          </a:prstGeom>
          <a:noFill/>
        </p:spPr>
        <p:txBody>
          <a:bodyPr wrap="square">
            <a:spAutoFit/>
          </a:bodyPr>
          <a:lstStyle/>
          <a:p>
            <a:pPr algn="l">
              <a:buNone/>
            </a:pPr>
            <a:r>
              <a:rPr lang="en-GB" sz="2400" b="1" i="0" dirty="0">
                <a:solidFill>
                  <a:srgbClr val="161616"/>
                </a:solidFill>
                <a:effectLst/>
              </a:rPr>
              <a:t>What is the Azure portal?</a:t>
            </a:r>
          </a:p>
          <a:p>
            <a:pPr algn="l">
              <a:buNone/>
            </a:pPr>
            <a:r>
              <a:rPr lang="en-GB" sz="2400" b="0" i="0" dirty="0">
                <a:solidFill>
                  <a:srgbClr val="161616"/>
                </a:solidFill>
                <a:effectLst/>
              </a:rPr>
              <a:t>The Azure portal is a web-based, unified console that lets you create and manage all your Azure resources. With the Azure portal, you can manage your Azure subscription using a graphical user interface. You can build, manage, and monitor everything from simple web apps to complex cloud deployments in the portal. For example, you can set up a new database, increase the compute power of your virtual machines, and monitor your monthly costs. You can review all available resources, and use guided wizards to create new ones.</a:t>
            </a:r>
          </a:p>
          <a:p>
            <a:pPr algn="l">
              <a:buNone/>
            </a:pPr>
            <a:endParaRPr lang="en-GB" sz="2400" b="0" i="0" dirty="0">
              <a:solidFill>
                <a:srgbClr val="161616"/>
              </a:solidFill>
              <a:effectLst/>
            </a:endParaRPr>
          </a:p>
          <a:p>
            <a:pPr algn="l">
              <a:buNone/>
            </a:pPr>
            <a:r>
              <a:rPr lang="en-GB" sz="2400" b="0" i="0" dirty="0">
                <a:solidFill>
                  <a:srgbClr val="161616"/>
                </a:solidFill>
                <a:effectLst/>
              </a:rPr>
              <a:t>The Azure portal is designed for resiliency and continuous availability. It has a presence in every Azure </a:t>
            </a:r>
            <a:r>
              <a:rPr lang="en-GB" sz="2400" b="0" i="0" dirty="0" err="1">
                <a:solidFill>
                  <a:srgbClr val="161616"/>
                </a:solidFill>
                <a:effectLst/>
              </a:rPr>
              <a:t>datacenter</a:t>
            </a:r>
            <a:r>
              <a:rPr lang="en-GB" sz="2400" b="0" i="0" dirty="0">
                <a:solidFill>
                  <a:srgbClr val="161616"/>
                </a:solidFill>
                <a:effectLst/>
              </a:rPr>
              <a:t>. This configuration makes the Azure portal resilient to individual </a:t>
            </a:r>
            <a:r>
              <a:rPr lang="en-GB" sz="2400" b="0" i="0" dirty="0" err="1">
                <a:solidFill>
                  <a:srgbClr val="161616"/>
                </a:solidFill>
                <a:effectLst/>
              </a:rPr>
              <a:t>datacenter</a:t>
            </a:r>
            <a:r>
              <a:rPr lang="en-GB" sz="2400" b="0" i="0" dirty="0">
                <a:solidFill>
                  <a:srgbClr val="161616"/>
                </a:solidFill>
                <a:effectLst/>
              </a:rPr>
              <a:t> failures and helps avoid network slowdowns by being close to users. The Azure portal updates continuously, and it requires no downtime for maintenance activities.</a:t>
            </a:r>
          </a:p>
        </p:txBody>
      </p:sp>
    </p:spTree>
    <p:extLst>
      <p:ext uri="{BB962C8B-B14F-4D97-AF65-F5344CB8AC3E}">
        <p14:creationId xmlns:p14="http://schemas.microsoft.com/office/powerpoint/2010/main" val="2117615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A73FA1-D9F2-0087-456E-A3453B5AB4FA}"/>
              </a:ext>
            </a:extLst>
          </p:cNvPr>
          <p:cNvSpPr txBox="1"/>
          <p:nvPr/>
        </p:nvSpPr>
        <p:spPr>
          <a:xfrm>
            <a:off x="226242" y="166568"/>
            <a:ext cx="8748075" cy="6524863"/>
          </a:xfrm>
          <a:prstGeom prst="rect">
            <a:avLst/>
          </a:prstGeom>
          <a:noFill/>
        </p:spPr>
        <p:txBody>
          <a:bodyPr wrap="square" rtlCol="0">
            <a:spAutoFit/>
          </a:bodyPr>
          <a:lstStyle/>
          <a:p>
            <a:r>
              <a:rPr lang="en-GB" sz="2000" b="1" dirty="0"/>
              <a:t>Home</a:t>
            </a:r>
          </a:p>
          <a:p>
            <a:r>
              <a:rPr lang="en-GB" sz="2000" dirty="0"/>
              <a:t>By default, the first thing you see after you </a:t>
            </a:r>
            <a:r>
              <a:rPr lang="en-GB" sz="2000" dirty="0">
                <a:hlinkClick r:id="rId2"/>
              </a:rPr>
              <a:t>sign in to the portal</a:t>
            </a:r>
            <a:r>
              <a:rPr lang="en-GB" sz="2000" dirty="0"/>
              <a:t> is </a:t>
            </a:r>
            <a:r>
              <a:rPr lang="en-GB" sz="2000" b="1" dirty="0"/>
              <a:t>Home</a:t>
            </a:r>
            <a:r>
              <a:rPr lang="en-GB" sz="2000" dirty="0"/>
              <a:t>. This page compiles resources that help you get the most from your Azure subscription. Select </a:t>
            </a:r>
            <a:r>
              <a:rPr lang="en-GB" sz="2000" b="1" dirty="0"/>
              <a:t>Create a resource</a:t>
            </a:r>
            <a:r>
              <a:rPr lang="en-GB" sz="2000" dirty="0"/>
              <a:t> to quickly create a new resource in the current subscription, or choose a service to start working in. For quick and easy access to work in progress, we show a list of your most recently visited resources. We also include links to free online courses, documentation, and other useful resources.</a:t>
            </a:r>
          </a:p>
          <a:p>
            <a:endParaRPr lang="en-GB" sz="2000" dirty="0"/>
          </a:p>
          <a:p>
            <a:r>
              <a:rPr lang="en-GB" sz="2000" b="1" dirty="0"/>
              <a:t>Portal elements and controls</a:t>
            </a:r>
          </a:p>
          <a:p>
            <a:r>
              <a:rPr lang="en-GB" sz="2000" dirty="0"/>
              <a:t>The </a:t>
            </a:r>
            <a:r>
              <a:rPr lang="en-GB" sz="2000" dirty="0">
                <a:hlinkClick r:id="rId3"/>
              </a:rPr>
              <a:t>portal menu</a:t>
            </a:r>
            <a:r>
              <a:rPr lang="en-GB" sz="2000" dirty="0"/>
              <a:t> and page header are global elements that are always present in the Azure portal. These persistent features are the "shell" for the user interface associated with each individual service or feature. The header provides access to global controls.</a:t>
            </a:r>
          </a:p>
          <a:p>
            <a:endParaRPr lang="en-GB" sz="2000" dirty="0"/>
          </a:p>
          <a:p>
            <a:r>
              <a:rPr lang="en-GB" sz="2000" dirty="0"/>
              <a:t>The working pane for a resource or service may also have a </a:t>
            </a:r>
            <a:r>
              <a:rPr lang="en-GB" sz="2000" dirty="0">
                <a:hlinkClick r:id="rId4"/>
              </a:rPr>
              <a:t>service menu</a:t>
            </a:r>
            <a:r>
              <a:rPr lang="en-GB" sz="2000" dirty="0"/>
              <a:t> with commands specific to that area.</a:t>
            </a:r>
          </a:p>
          <a:p>
            <a:r>
              <a:rPr lang="en-GB" sz="2000" dirty="0"/>
              <a:t>The illustration below labels the basic elements of the Azure portal, each of which are described in the following table. In this example, the current focus is a virtual machine (VM), but the same elements generally apply, no matter what type of resource or service you're working with.</a:t>
            </a:r>
          </a:p>
          <a:p>
            <a:endParaRPr lang="en-IN" dirty="0"/>
          </a:p>
        </p:txBody>
      </p:sp>
    </p:spTree>
    <p:extLst>
      <p:ext uri="{BB962C8B-B14F-4D97-AF65-F5344CB8AC3E}">
        <p14:creationId xmlns:p14="http://schemas.microsoft.com/office/powerpoint/2010/main" val="23631128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Screenshot showing the full screen portal view and a key to UI elements.">
            <a:extLst>
              <a:ext uri="{FF2B5EF4-FFF2-40B4-BE49-F238E27FC236}">
                <a16:creationId xmlns:a16="http://schemas.microsoft.com/office/drawing/2014/main" id="{01D81F68-E1D4-EB62-A3D0-C09525D7D6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536" y="179109"/>
            <a:ext cx="8861196" cy="6438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8358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Resource Creation in Azure</a:t>
            </a:r>
          </a:p>
        </p:txBody>
      </p:sp>
      <p:sp>
        <p:nvSpPr>
          <p:cNvPr id="3" name="Content Placeholder 2"/>
          <p:cNvSpPr>
            <a:spLocks noGrp="1"/>
          </p:cNvSpPr>
          <p:nvPr>
            <p:ph idx="1"/>
          </p:nvPr>
        </p:nvSpPr>
        <p:spPr/>
        <p:txBody>
          <a:bodyPr/>
          <a:lstStyle/>
          <a:p>
            <a:endParaRPr dirty="0"/>
          </a:p>
          <a:p>
            <a:r>
              <a:rPr dirty="0"/>
              <a:t>Creating Resource Groups</a:t>
            </a:r>
          </a:p>
          <a:p>
            <a:r>
              <a:rPr dirty="0"/>
              <a:t>Creating Virtual Machines</a:t>
            </a:r>
          </a:p>
          <a:p>
            <a:r>
              <a:rPr dirty="0"/>
              <a:t>Creating Web Apps (App Service)</a:t>
            </a:r>
          </a:p>
          <a:p>
            <a:r>
              <a:rPr dirty="0"/>
              <a:t>Understanding ARM templates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F33139C-32E7-1A78-1C29-98028D52F091}"/>
              </a:ext>
            </a:extLst>
          </p:cNvPr>
          <p:cNvSpPr txBox="1"/>
          <p:nvPr/>
        </p:nvSpPr>
        <p:spPr>
          <a:xfrm>
            <a:off x="2430780" y="3105834"/>
            <a:ext cx="4282440" cy="646331"/>
          </a:xfrm>
          <a:prstGeom prst="rect">
            <a:avLst/>
          </a:prstGeom>
          <a:noFill/>
        </p:spPr>
        <p:txBody>
          <a:bodyPr wrap="square" rtlCol="0">
            <a:spAutoFit/>
          </a:bodyPr>
          <a:lstStyle/>
          <a:p>
            <a:pPr algn="ctr"/>
            <a:r>
              <a:rPr lang="en-GB" sz="3600" b="1" dirty="0">
                <a:solidFill>
                  <a:srgbClr val="FF0000"/>
                </a:solidFill>
              </a:rPr>
              <a:t>EXERCISE 1</a:t>
            </a:r>
            <a:endParaRPr lang="en-IN" sz="3600" b="1" dirty="0">
              <a:solidFill>
                <a:srgbClr val="FF0000"/>
              </a:solidFill>
            </a:endParaRPr>
          </a:p>
        </p:txBody>
      </p:sp>
    </p:spTree>
    <p:extLst>
      <p:ext uri="{BB962C8B-B14F-4D97-AF65-F5344CB8AC3E}">
        <p14:creationId xmlns:p14="http://schemas.microsoft.com/office/powerpoint/2010/main" val="18712813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Azure Free Tier Lab (No VMs)</a:t>
            </a:r>
          </a:p>
        </p:txBody>
      </p:sp>
      <p:sp>
        <p:nvSpPr>
          <p:cNvPr id="3" name="Content Placeholder 2"/>
          <p:cNvSpPr>
            <a:spLocks noGrp="1"/>
          </p:cNvSpPr>
          <p:nvPr>
            <p:ph idx="1"/>
          </p:nvPr>
        </p:nvSpPr>
        <p:spPr/>
        <p:txBody>
          <a:bodyPr/>
          <a:lstStyle/>
          <a:p>
            <a:r>
              <a:t>Learn Resource Group, Storage Account, App Service, Function App, Budgets.</a:t>
            </a:r>
          </a:p>
          <a:p>
            <a:r>
              <a:t>All steps use free-tier friendly services.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 1 – Create a Resource Group</a:t>
            </a:r>
          </a:p>
        </p:txBody>
      </p:sp>
      <p:sp>
        <p:nvSpPr>
          <p:cNvPr id="3" name="Content Placeholder 2"/>
          <p:cNvSpPr>
            <a:spLocks noGrp="1"/>
          </p:cNvSpPr>
          <p:nvPr>
            <p:ph idx="1"/>
          </p:nvPr>
        </p:nvSpPr>
        <p:spPr/>
        <p:txBody>
          <a:bodyPr/>
          <a:lstStyle/>
          <a:p>
            <a:r>
              <a:t>Portal → Search 'Resource groups'.</a:t>
            </a:r>
          </a:p>
          <a:p>
            <a:r>
              <a:t>Click '+ Create'.</a:t>
            </a:r>
          </a:p>
          <a:p>
            <a:r>
              <a:t>Subscription: Free Trial.</a:t>
            </a:r>
          </a:p>
          <a:p>
            <a:r>
              <a:t>Name: rg-free-demo.</a:t>
            </a:r>
          </a:p>
          <a:p>
            <a:r>
              <a:t>Region: East US.</a:t>
            </a:r>
          </a:p>
          <a:p>
            <a:r>
              <a:t>Review + Create → Create.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 2 – Create a Storage Account</a:t>
            </a:r>
          </a:p>
        </p:txBody>
      </p:sp>
      <p:sp>
        <p:nvSpPr>
          <p:cNvPr id="3" name="Content Placeholder 2"/>
          <p:cNvSpPr>
            <a:spLocks noGrp="1"/>
          </p:cNvSpPr>
          <p:nvPr>
            <p:ph idx="1"/>
          </p:nvPr>
        </p:nvSpPr>
        <p:spPr/>
        <p:txBody>
          <a:bodyPr>
            <a:normAutofit lnSpcReduction="10000"/>
          </a:bodyPr>
          <a:lstStyle/>
          <a:p>
            <a:r>
              <a:t>Home → Create a resource → Search 'Storage account'.</a:t>
            </a:r>
          </a:p>
          <a:p>
            <a:r>
              <a:t>Subscription: Free Trial.</a:t>
            </a:r>
          </a:p>
          <a:p>
            <a:r>
              <a:t>Resource Group: rg-free-demo.</a:t>
            </a:r>
          </a:p>
          <a:p>
            <a:r>
              <a:t>Name: mystorage&lt;yourname&gt;.</a:t>
            </a:r>
          </a:p>
          <a:p>
            <a:r>
              <a:t>Performance: Standard.</a:t>
            </a:r>
          </a:p>
          <a:p>
            <a:r>
              <a:t>Redundancy: LRS.</a:t>
            </a:r>
          </a:p>
          <a:p>
            <a:r>
              <a:t>Review + Create → Create.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Storage Lab – Upload a Blob</a:t>
            </a:r>
          </a:p>
        </p:txBody>
      </p:sp>
      <p:sp>
        <p:nvSpPr>
          <p:cNvPr id="3" name="Content Placeholder 2"/>
          <p:cNvSpPr>
            <a:spLocks noGrp="1"/>
          </p:cNvSpPr>
          <p:nvPr>
            <p:ph idx="1"/>
          </p:nvPr>
        </p:nvSpPr>
        <p:spPr/>
        <p:txBody>
          <a:bodyPr/>
          <a:lstStyle/>
          <a:p>
            <a:r>
              <a:t>Open Storage Account.</a:t>
            </a:r>
          </a:p>
          <a:p>
            <a:r>
              <a:t>Left menu → Containers.</a:t>
            </a:r>
          </a:p>
          <a:p>
            <a:r>
              <a:t>+ Container → Name: demo-container.</a:t>
            </a:r>
          </a:p>
          <a:p>
            <a:r>
              <a:t>Open container → Upload → Select any file.</a:t>
            </a:r>
          </a:p>
          <a:p>
            <a:r>
              <a:t>Confirm blob is visible.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Step 3 – Create App Service (Free Tier)</a:t>
            </a:r>
          </a:p>
        </p:txBody>
      </p:sp>
      <p:sp>
        <p:nvSpPr>
          <p:cNvPr id="3" name="Content Placeholder 2"/>
          <p:cNvSpPr>
            <a:spLocks noGrp="1"/>
          </p:cNvSpPr>
          <p:nvPr>
            <p:ph idx="1"/>
          </p:nvPr>
        </p:nvSpPr>
        <p:spPr/>
        <p:txBody>
          <a:bodyPr/>
          <a:lstStyle/>
          <a:p>
            <a:r>
              <a:t>Create a resource → Web App → Create.</a:t>
            </a:r>
          </a:p>
          <a:p>
            <a:r>
              <a:t>Subscription: Free Trial.</a:t>
            </a:r>
          </a:p>
          <a:p>
            <a:r>
              <a:t>Resource Group: rg-free-demo.</a:t>
            </a:r>
          </a:p>
          <a:p>
            <a:r>
              <a:t>Name: webapp-demo-&lt;yourname&gt;.</a:t>
            </a:r>
          </a:p>
          <a:p>
            <a:r>
              <a:t>Runtime: Node/Python/.NET.</a:t>
            </a:r>
          </a:p>
          <a:p>
            <a:r>
              <a:t>Plan: Create new → Pricing → F1 Free.</a:t>
            </a:r>
          </a:p>
          <a:p>
            <a:r>
              <a:t>Review + Create → Create.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Deploy Simple Web App (ZIP Deploy)</a:t>
            </a:r>
          </a:p>
        </p:txBody>
      </p:sp>
      <p:sp>
        <p:nvSpPr>
          <p:cNvPr id="3" name="Content Placeholder 2"/>
          <p:cNvSpPr>
            <a:spLocks noGrp="1"/>
          </p:cNvSpPr>
          <p:nvPr>
            <p:ph idx="1"/>
          </p:nvPr>
        </p:nvSpPr>
        <p:spPr/>
        <p:txBody>
          <a:bodyPr/>
          <a:lstStyle/>
          <a:p>
            <a:r>
              <a:t>Open Web App → Deployment Center.</a:t>
            </a:r>
          </a:p>
          <a:p>
            <a:r>
              <a:t>Choose ZIP Deploy.</a:t>
            </a:r>
          </a:p>
          <a:p>
            <a:r>
              <a:t>Upload a ZIP containing your HTML file.</a:t>
            </a:r>
          </a:p>
          <a:p>
            <a:r>
              <a:t>Click 'Browse' to open your app.</a:t>
            </a:r>
          </a:p>
          <a:p>
            <a:r>
              <a:t>URL: https://webapp-demo-&lt;yourname&gt;.azurewebsites.net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Web Page (Copy &amp; Use)</a:t>
            </a:r>
          </a:p>
        </p:txBody>
      </p:sp>
      <p:sp>
        <p:nvSpPr>
          <p:cNvPr id="3" name="Content Placeholder 2"/>
          <p:cNvSpPr>
            <a:spLocks noGrp="1"/>
          </p:cNvSpPr>
          <p:nvPr>
            <p:ph idx="1"/>
          </p:nvPr>
        </p:nvSpPr>
        <p:spPr/>
        <p:txBody>
          <a:bodyPr>
            <a:normAutofit lnSpcReduction="10000"/>
          </a:bodyPr>
          <a:lstStyle/>
          <a:p>
            <a:r>
              <a:t>Create a file named index.html with the code below:</a:t>
            </a:r>
          </a:p>
          <a:p>
            <a:r>
              <a:t>&lt;html&gt;</a:t>
            </a:r>
          </a:p>
          <a:p>
            <a:r>
              <a:t>&lt;body&gt;</a:t>
            </a:r>
          </a:p>
          <a:p>
            <a:r>
              <a:t>&lt;h1&gt;Hello from Azure App Service!&lt;/h1&gt;</a:t>
            </a:r>
          </a:p>
          <a:p>
            <a:r>
              <a:t>&lt;p&gt;This is a simple free-tier web app.&lt;/p&gt;</a:t>
            </a:r>
          </a:p>
          <a:p>
            <a:r>
              <a:t>&lt;/body&gt;</a:t>
            </a:r>
          </a:p>
          <a:p>
            <a:r>
              <a:t>&lt;/html&gt;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 4 – Create Azure Function App</a:t>
            </a:r>
          </a:p>
        </p:txBody>
      </p:sp>
      <p:sp>
        <p:nvSpPr>
          <p:cNvPr id="3" name="Content Placeholder 2"/>
          <p:cNvSpPr>
            <a:spLocks noGrp="1"/>
          </p:cNvSpPr>
          <p:nvPr>
            <p:ph idx="1"/>
          </p:nvPr>
        </p:nvSpPr>
        <p:spPr/>
        <p:txBody>
          <a:bodyPr/>
          <a:lstStyle/>
          <a:p>
            <a:r>
              <a:t>Create a resource → Search 'Function App'.</a:t>
            </a:r>
          </a:p>
          <a:p>
            <a:r>
              <a:t>Subscription: Free Trial.</a:t>
            </a:r>
          </a:p>
          <a:p>
            <a:r>
              <a:t>Resource Group: rg-free-demo.</a:t>
            </a:r>
          </a:p>
          <a:p>
            <a:r>
              <a:t>Runtime: Python/Node/.NET.</a:t>
            </a:r>
          </a:p>
          <a:p>
            <a:r>
              <a:t>Hosting: Consumption (Free).</a:t>
            </a:r>
          </a:p>
          <a:p>
            <a:r>
              <a:t>Review + Create → Create.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Function App Lab – HTTP Trigger</a:t>
            </a:r>
          </a:p>
        </p:txBody>
      </p:sp>
      <p:sp>
        <p:nvSpPr>
          <p:cNvPr id="3" name="Content Placeholder 2"/>
          <p:cNvSpPr>
            <a:spLocks noGrp="1"/>
          </p:cNvSpPr>
          <p:nvPr>
            <p:ph idx="1"/>
          </p:nvPr>
        </p:nvSpPr>
        <p:spPr/>
        <p:txBody>
          <a:bodyPr/>
          <a:lstStyle/>
          <a:p>
            <a:r>
              <a:t>Open Function App → Functions → Create.</a:t>
            </a:r>
          </a:p>
          <a:p>
            <a:r>
              <a:t>Development environment: Portal.</a:t>
            </a:r>
          </a:p>
          <a:p>
            <a:r>
              <a:t>Template: HTTP Trigger.</a:t>
            </a:r>
          </a:p>
          <a:p>
            <a:r>
              <a:t>Name: helloFunction.</a:t>
            </a:r>
          </a:p>
          <a:p>
            <a:r>
              <a:t>Run test → Copy function URL → Open in browser.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 5 – Add a Cost Budget</a:t>
            </a:r>
          </a:p>
        </p:txBody>
      </p:sp>
      <p:sp>
        <p:nvSpPr>
          <p:cNvPr id="3" name="Content Placeholder 2"/>
          <p:cNvSpPr>
            <a:spLocks noGrp="1"/>
          </p:cNvSpPr>
          <p:nvPr>
            <p:ph idx="1"/>
          </p:nvPr>
        </p:nvSpPr>
        <p:spPr/>
        <p:txBody>
          <a:bodyPr/>
          <a:lstStyle/>
          <a:p>
            <a:r>
              <a:t>Search: Cost Management + Billing.</a:t>
            </a:r>
          </a:p>
          <a:p>
            <a:r>
              <a:t>Budgets → + Add.</a:t>
            </a:r>
          </a:p>
          <a:p>
            <a:r>
              <a:t>Name: demo-budget.</a:t>
            </a:r>
          </a:p>
          <a:p>
            <a:r>
              <a:t>Amount: ₹100 or $2.</a:t>
            </a:r>
          </a:p>
          <a:p>
            <a:r>
              <a:t>Add Email Alert.</a:t>
            </a:r>
          </a:p>
          <a:p>
            <a:r>
              <a:t>Create.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 6 – Cleanup</a:t>
            </a:r>
          </a:p>
        </p:txBody>
      </p:sp>
      <p:sp>
        <p:nvSpPr>
          <p:cNvPr id="3" name="Content Placeholder 2"/>
          <p:cNvSpPr>
            <a:spLocks noGrp="1"/>
          </p:cNvSpPr>
          <p:nvPr>
            <p:ph idx="1"/>
          </p:nvPr>
        </p:nvSpPr>
        <p:spPr/>
        <p:txBody>
          <a:bodyPr/>
          <a:lstStyle/>
          <a:p>
            <a:r>
              <a:t>Portal → Resource Groups.</a:t>
            </a:r>
          </a:p>
          <a:p>
            <a:r>
              <a:t>Select rg-free-demo.</a:t>
            </a:r>
          </a:p>
          <a:p>
            <a:r>
              <a:t>Click 'Delete resource group'.</a:t>
            </a:r>
          </a:p>
          <a:p>
            <a:r>
              <a:t>Confirm name.</a:t>
            </a:r>
          </a:p>
          <a:p>
            <a:r>
              <a:t>All resources deleted safely.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Azure Storage Overview</a:t>
            </a:r>
          </a:p>
        </p:txBody>
      </p:sp>
      <p:sp>
        <p:nvSpPr>
          <p:cNvPr id="3" name="Content Placeholder 2"/>
          <p:cNvSpPr>
            <a:spLocks noGrp="1"/>
          </p:cNvSpPr>
          <p:nvPr>
            <p:ph idx="1"/>
          </p:nvPr>
        </p:nvSpPr>
        <p:spPr/>
        <p:txBody>
          <a:bodyPr/>
          <a:lstStyle/>
          <a:p>
            <a:endParaRPr/>
          </a:p>
          <a:p>
            <a:r>
              <a:t>Blob Storage</a:t>
            </a:r>
          </a:p>
          <a:p>
            <a:r>
              <a:t>File Storage</a:t>
            </a:r>
          </a:p>
          <a:p>
            <a:r>
              <a:t>Tables &amp; Queues</a:t>
            </a:r>
          </a:p>
          <a:p>
            <a:r>
              <a:t>Storage accounts and access tiers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8ECF1-6E27-449D-B2C6-F0533114DFD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3F44E0D-0CBA-EA05-CB4F-879CFC22C89D}"/>
              </a:ext>
            </a:extLst>
          </p:cNvPr>
          <p:cNvSpPr txBox="1"/>
          <p:nvPr/>
        </p:nvSpPr>
        <p:spPr>
          <a:xfrm>
            <a:off x="2430780" y="3105834"/>
            <a:ext cx="4282440" cy="646331"/>
          </a:xfrm>
          <a:prstGeom prst="rect">
            <a:avLst/>
          </a:prstGeom>
          <a:noFill/>
        </p:spPr>
        <p:txBody>
          <a:bodyPr wrap="square" rtlCol="0">
            <a:spAutoFit/>
          </a:bodyPr>
          <a:lstStyle/>
          <a:p>
            <a:pPr algn="ctr"/>
            <a:r>
              <a:rPr lang="en-GB" sz="3600" b="1" dirty="0">
                <a:solidFill>
                  <a:srgbClr val="FF0000"/>
                </a:solidFill>
              </a:rPr>
              <a:t>END OF EXERCISE</a:t>
            </a:r>
            <a:endParaRPr lang="en-IN" sz="3600" b="1" dirty="0">
              <a:solidFill>
                <a:srgbClr val="FF0000"/>
              </a:solidFill>
            </a:endParaRPr>
          </a:p>
        </p:txBody>
      </p:sp>
    </p:spTree>
    <p:extLst>
      <p:ext uri="{BB962C8B-B14F-4D97-AF65-F5344CB8AC3E}">
        <p14:creationId xmlns:p14="http://schemas.microsoft.com/office/powerpoint/2010/main" val="18023085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FE0EFB-44C4-09A2-6930-41A39BBD1DDA}"/>
              </a:ext>
            </a:extLst>
          </p:cNvPr>
          <p:cNvSpPr txBox="1"/>
          <p:nvPr/>
        </p:nvSpPr>
        <p:spPr>
          <a:xfrm>
            <a:off x="3108960" y="2859465"/>
            <a:ext cx="2926080" cy="584775"/>
          </a:xfrm>
          <a:prstGeom prst="rect">
            <a:avLst/>
          </a:prstGeom>
          <a:noFill/>
        </p:spPr>
        <p:txBody>
          <a:bodyPr wrap="square" rtlCol="0">
            <a:spAutoFit/>
          </a:bodyPr>
          <a:lstStyle/>
          <a:p>
            <a:pPr algn="ctr"/>
            <a:r>
              <a:rPr lang="en-GB" sz="3200" b="1" dirty="0">
                <a:solidFill>
                  <a:srgbClr val="FF0000"/>
                </a:solidFill>
              </a:rPr>
              <a:t>LABS 1</a:t>
            </a:r>
            <a:endParaRPr lang="en-IN" sz="3200" b="1" dirty="0">
              <a:solidFill>
                <a:srgbClr val="FF0000"/>
              </a:solidFill>
            </a:endParaRPr>
          </a:p>
        </p:txBody>
      </p:sp>
    </p:spTree>
    <p:extLst>
      <p:ext uri="{BB962C8B-B14F-4D97-AF65-F5344CB8AC3E}">
        <p14:creationId xmlns:p14="http://schemas.microsoft.com/office/powerpoint/2010/main" val="5310404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Azure Containers: Real-World Use Case</a:t>
            </a:r>
          </a:p>
        </p:txBody>
      </p:sp>
      <p:sp>
        <p:nvSpPr>
          <p:cNvPr id="3" name="Subtitle 2"/>
          <p:cNvSpPr>
            <a:spLocks noGrp="1"/>
          </p:cNvSpPr>
          <p:nvPr>
            <p:ph type="subTitle" idx="1"/>
          </p:nvPr>
        </p:nvSpPr>
        <p:spPr/>
        <p:txBody>
          <a:bodyPr/>
          <a:lstStyle/>
          <a:p>
            <a:r>
              <a:t>Student Assignment Submission App</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Use Case Overview</a:t>
            </a:r>
          </a:p>
        </p:txBody>
      </p:sp>
      <p:sp>
        <p:nvSpPr>
          <p:cNvPr id="3" name="Content Placeholder 2"/>
          <p:cNvSpPr>
            <a:spLocks noGrp="1"/>
          </p:cNvSpPr>
          <p:nvPr>
            <p:ph idx="1"/>
          </p:nvPr>
        </p:nvSpPr>
        <p:spPr/>
        <p:txBody>
          <a:bodyPr/>
          <a:lstStyle/>
          <a:p>
            <a:endParaRPr/>
          </a:p>
          <a:p>
            <a:r>
              <a:t>Students upload assignments</a:t>
            </a:r>
          </a:p>
          <a:p>
            <a:r>
              <a:t>Web app runs in Docker</a:t>
            </a:r>
          </a:p>
          <a:p>
            <a:r>
              <a:t>Hosted in ACI</a:t>
            </a:r>
          </a:p>
          <a:p>
            <a:r>
              <a:t>Files saved to Blob Storage</a:t>
            </a:r>
          </a:p>
          <a:p>
            <a:r>
              <a:t>No VMs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Architecture</a:t>
            </a:r>
          </a:p>
        </p:txBody>
      </p:sp>
      <p:sp>
        <p:nvSpPr>
          <p:cNvPr id="3" name="Content Placeholder 2"/>
          <p:cNvSpPr>
            <a:spLocks noGrp="1"/>
          </p:cNvSpPr>
          <p:nvPr>
            <p:ph idx="1"/>
          </p:nvPr>
        </p:nvSpPr>
        <p:spPr/>
        <p:txBody>
          <a:bodyPr/>
          <a:lstStyle/>
          <a:p>
            <a:endParaRPr/>
          </a:p>
          <a:p>
            <a:r>
              <a:t>User → Container Web App</a:t>
            </a:r>
          </a:p>
          <a:p>
            <a:r>
              <a:t>Container → Azure Blob Storage</a:t>
            </a:r>
          </a:p>
          <a:p>
            <a:r>
              <a:t>Optional → Azure Container Registry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 1: Create Storage Account</a:t>
            </a:r>
          </a:p>
        </p:txBody>
      </p:sp>
      <p:sp>
        <p:nvSpPr>
          <p:cNvPr id="3" name="Content Placeholder 2"/>
          <p:cNvSpPr>
            <a:spLocks noGrp="1"/>
          </p:cNvSpPr>
          <p:nvPr>
            <p:ph idx="1"/>
          </p:nvPr>
        </p:nvSpPr>
        <p:spPr/>
        <p:txBody>
          <a:bodyPr/>
          <a:lstStyle/>
          <a:p>
            <a:endParaRPr/>
          </a:p>
          <a:p>
            <a:r>
              <a:t>Portal → Storage Accounts → Create</a:t>
            </a:r>
          </a:p>
          <a:p>
            <a:r>
              <a:t>Create container: assignments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 2: Build Docker App</a:t>
            </a:r>
          </a:p>
        </p:txBody>
      </p:sp>
      <p:sp>
        <p:nvSpPr>
          <p:cNvPr id="3" name="Content Placeholder 2"/>
          <p:cNvSpPr>
            <a:spLocks noGrp="1"/>
          </p:cNvSpPr>
          <p:nvPr>
            <p:ph idx="1"/>
          </p:nvPr>
        </p:nvSpPr>
        <p:spPr/>
        <p:txBody>
          <a:bodyPr/>
          <a:lstStyle/>
          <a:p>
            <a:endParaRPr/>
          </a:p>
          <a:p>
            <a:r>
              <a:t>Simple upload form</a:t>
            </a:r>
          </a:p>
          <a:p>
            <a:r>
              <a:t>Dockerfile</a:t>
            </a:r>
          </a:p>
          <a:p>
            <a:r>
              <a:t>docker build -t app:v1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 3: Push to ACR</a:t>
            </a:r>
          </a:p>
        </p:txBody>
      </p:sp>
      <p:sp>
        <p:nvSpPr>
          <p:cNvPr id="3" name="Content Placeholder 2"/>
          <p:cNvSpPr>
            <a:spLocks noGrp="1"/>
          </p:cNvSpPr>
          <p:nvPr>
            <p:ph idx="1"/>
          </p:nvPr>
        </p:nvSpPr>
        <p:spPr/>
        <p:txBody>
          <a:bodyPr/>
          <a:lstStyle/>
          <a:p>
            <a:endParaRPr/>
          </a:p>
          <a:p>
            <a:r>
              <a:t>Create ACR</a:t>
            </a:r>
          </a:p>
          <a:p>
            <a:r>
              <a:t>docker tag</a:t>
            </a:r>
          </a:p>
          <a:p>
            <a:r>
              <a:t>docker push</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 4: Deploy to ACI</a:t>
            </a:r>
          </a:p>
        </p:txBody>
      </p:sp>
      <p:sp>
        <p:nvSpPr>
          <p:cNvPr id="3" name="Content Placeholder 2"/>
          <p:cNvSpPr>
            <a:spLocks noGrp="1"/>
          </p:cNvSpPr>
          <p:nvPr>
            <p:ph idx="1"/>
          </p:nvPr>
        </p:nvSpPr>
        <p:spPr/>
        <p:txBody>
          <a:bodyPr/>
          <a:lstStyle/>
          <a:p>
            <a:endParaRPr/>
          </a:p>
          <a:p>
            <a:r>
              <a:t>Container Instances → Create</a:t>
            </a:r>
          </a:p>
          <a:p>
            <a:r>
              <a:t>Select image</a:t>
            </a:r>
          </a:p>
          <a:p>
            <a:r>
              <a:t>Enable public IP</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 5: Test</a:t>
            </a:r>
          </a:p>
        </p:txBody>
      </p:sp>
      <p:sp>
        <p:nvSpPr>
          <p:cNvPr id="3" name="Content Placeholder 2"/>
          <p:cNvSpPr>
            <a:spLocks noGrp="1"/>
          </p:cNvSpPr>
          <p:nvPr>
            <p:ph idx="1"/>
          </p:nvPr>
        </p:nvSpPr>
        <p:spPr/>
        <p:txBody>
          <a:bodyPr/>
          <a:lstStyle/>
          <a:p>
            <a:endParaRPr/>
          </a:p>
          <a:p>
            <a:r>
              <a:t>Open URL</a:t>
            </a:r>
          </a:p>
          <a:p>
            <a:r>
              <a:t>Upload file</a:t>
            </a:r>
          </a:p>
          <a:p>
            <a:r>
              <a:t>Check Blob Storage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Azure Security Basics</a:t>
            </a:r>
          </a:p>
        </p:txBody>
      </p:sp>
      <p:sp>
        <p:nvSpPr>
          <p:cNvPr id="3" name="Content Placeholder 2"/>
          <p:cNvSpPr>
            <a:spLocks noGrp="1"/>
          </p:cNvSpPr>
          <p:nvPr>
            <p:ph idx="1"/>
          </p:nvPr>
        </p:nvSpPr>
        <p:spPr/>
        <p:txBody>
          <a:bodyPr/>
          <a:lstStyle/>
          <a:p>
            <a:endParaRPr dirty="0"/>
          </a:p>
          <a:p>
            <a:r>
              <a:rPr dirty="0"/>
              <a:t>Identity &amp; Access Management (IAM)</a:t>
            </a:r>
          </a:p>
          <a:p>
            <a:r>
              <a:rPr dirty="0"/>
              <a:t>Role-Based Access Control (RBAC)</a:t>
            </a:r>
          </a:p>
          <a:p>
            <a:r>
              <a:rPr dirty="0"/>
              <a:t>Azure Security Center</a:t>
            </a:r>
          </a:p>
          <a:p>
            <a:r>
              <a:rPr dirty="0"/>
              <a:t>Virtual Network &amp; Firewalls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Azure IAM &amp; RBAC Lab – Screenshots</a:t>
            </a:r>
          </a:p>
        </p:txBody>
      </p:sp>
      <p:sp>
        <p:nvSpPr>
          <p:cNvPr id="3" name="Subtitle 2"/>
          <p:cNvSpPr>
            <a:spLocks noGrp="1"/>
          </p:cNvSpPr>
          <p:nvPr>
            <p:ph type="subTitle" idx="1"/>
          </p:nvPr>
        </p:nvSpPr>
        <p:spPr/>
        <p:txBody>
          <a:bodyPr/>
          <a:lstStyle/>
          <a:p>
            <a:r>
              <a:t>Auto‑generated Azure Portal Light Theme Screenshots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_series_of_five_digital_screenshot_panels_display.png"/>
          <p:cNvPicPr>
            <a:picLocks noChangeAspect="1"/>
          </p:cNvPicPr>
          <p:nvPr/>
        </p:nvPicPr>
        <p:blipFill>
          <a:blip r:embed="rId2"/>
          <a:stretch>
            <a:fillRect/>
          </a:stretch>
        </p:blipFill>
        <p:spPr>
          <a:xfrm>
            <a:off x="243840" y="137160"/>
            <a:ext cx="8763000" cy="64008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Azure Security Labs – Step-by-Step Guide</a:t>
            </a:r>
          </a:p>
        </p:txBody>
      </p:sp>
      <p:sp>
        <p:nvSpPr>
          <p:cNvPr id="3" name="Content Placeholder 2"/>
          <p:cNvSpPr>
            <a:spLocks noGrp="1"/>
          </p:cNvSpPr>
          <p:nvPr>
            <p:ph idx="1"/>
          </p:nvPr>
        </p:nvSpPr>
        <p:spPr/>
        <p:txBody>
          <a:bodyPr/>
          <a:lstStyle/>
          <a:p>
            <a:r>
              <a:t>Covers IAM, RBAC, Defender for Cloud, VNet + NSG, Storage Firewall.</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Lab 1 – Create a User in Azure AD (IAM)</a:t>
            </a:r>
          </a:p>
        </p:txBody>
      </p:sp>
      <p:sp>
        <p:nvSpPr>
          <p:cNvPr id="3" name="Content Placeholder 2"/>
          <p:cNvSpPr>
            <a:spLocks noGrp="1"/>
          </p:cNvSpPr>
          <p:nvPr>
            <p:ph idx="1"/>
          </p:nvPr>
        </p:nvSpPr>
        <p:spPr/>
        <p:txBody>
          <a:bodyPr/>
          <a:lstStyle/>
          <a:p>
            <a:r>
              <a:t>1. Go to https://portal.azure.com</a:t>
            </a:r>
          </a:p>
          <a:p>
            <a:r>
              <a:t>2. Search for 'Azure Active Directory'.</a:t>
            </a:r>
          </a:p>
          <a:p>
            <a:r>
              <a:t>3. Click 'Users'.</a:t>
            </a:r>
          </a:p>
          <a:p>
            <a:r>
              <a:t>4. Click '+ New User'.</a:t>
            </a:r>
          </a:p>
          <a:p>
            <a:r>
              <a:t>5. Enter username and name.</a:t>
            </a:r>
          </a:p>
          <a:p>
            <a:r>
              <a:t>6. Leave account enabled → Click 'Create'.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Lab 2 – Assign RBAC Role to a User</a:t>
            </a:r>
          </a:p>
        </p:txBody>
      </p:sp>
      <p:sp>
        <p:nvSpPr>
          <p:cNvPr id="3" name="Content Placeholder 2"/>
          <p:cNvSpPr>
            <a:spLocks noGrp="1"/>
          </p:cNvSpPr>
          <p:nvPr>
            <p:ph idx="1"/>
          </p:nvPr>
        </p:nvSpPr>
        <p:spPr/>
        <p:txBody>
          <a:bodyPr>
            <a:normAutofit lnSpcReduction="10000"/>
          </a:bodyPr>
          <a:lstStyle/>
          <a:p>
            <a:r>
              <a:t>1. Go to any resource (example: Storage Account).</a:t>
            </a:r>
          </a:p>
          <a:p>
            <a:r>
              <a:t>2. Left menu → 'Access Control (IAM)'.</a:t>
            </a:r>
          </a:p>
          <a:p>
            <a:r>
              <a:t>3. Click 'Add' → 'Add role assignment'.</a:t>
            </a:r>
          </a:p>
          <a:p>
            <a:r>
              <a:t>4. Choose role: Reader / Contributor / Owner.</a:t>
            </a:r>
          </a:p>
          <a:p>
            <a:r>
              <a:t>5. Click 'Next'.</a:t>
            </a:r>
          </a:p>
          <a:p>
            <a:r>
              <a:t>6. Select the user created earlier.</a:t>
            </a:r>
          </a:p>
          <a:p>
            <a:r>
              <a:t>7. Click 'Review + Assign'.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Lab 3 – Create a Virtual Network</a:t>
            </a:r>
          </a:p>
        </p:txBody>
      </p:sp>
      <p:sp>
        <p:nvSpPr>
          <p:cNvPr id="3" name="Content Placeholder 2"/>
          <p:cNvSpPr>
            <a:spLocks noGrp="1"/>
          </p:cNvSpPr>
          <p:nvPr>
            <p:ph idx="1"/>
          </p:nvPr>
        </p:nvSpPr>
        <p:spPr/>
        <p:txBody>
          <a:bodyPr>
            <a:normAutofit fontScale="92500"/>
          </a:bodyPr>
          <a:lstStyle/>
          <a:p>
            <a:r>
              <a:t>1. Home → Create a resource → Search 'Virtual Network'.</a:t>
            </a:r>
          </a:p>
          <a:p>
            <a:r>
              <a:t>2. Click 'Create'.</a:t>
            </a:r>
          </a:p>
          <a:p>
            <a:r>
              <a:t>3. Resource Group: select existing or create new.</a:t>
            </a:r>
          </a:p>
          <a:p>
            <a:r>
              <a:t>4. Enter VNet name.</a:t>
            </a:r>
          </a:p>
          <a:p>
            <a:r>
              <a:t>5. Define IP space (default fine).</a:t>
            </a:r>
          </a:p>
          <a:p>
            <a:r>
              <a:t>6. Add a subnet: default-subnet.</a:t>
            </a:r>
          </a:p>
          <a:p>
            <a:r>
              <a:t>7. Click 'Review + Create'.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Lab 4 – Create and Configure NSG</a:t>
            </a:r>
          </a:p>
        </p:txBody>
      </p:sp>
      <p:sp>
        <p:nvSpPr>
          <p:cNvPr id="3" name="Content Placeholder 2"/>
          <p:cNvSpPr>
            <a:spLocks noGrp="1"/>
          </p:cNvSpPr>
          <p:nvPr>
            <p:ph idx="1"/>
          </p:nvPr>
        </p:nvSpPr>
        <p:spPr/>
        <p:txBody>
          <a:bodyPr>
            <a:normAutofit fontScale="92500" lnSpcReduction="20000"/>
          </a:bodyPr>
          <a:lstStyle/>
          <a:p>
            <a:r>
              <a:t>1. Search 'Network Security Groups'.</a:t>
            </a:r>
          </a:p>
          <a:p>
            <a:r>
              <a:t>2. Click '+ Create'.</a:t>
            </a:r>
          </a:p>
          <a:p>
            <a:r>
              <a:t>3. Choose subscription + resource group.</a:t>
            </a:r>
          </a:p>
          <a:p>
            <a:r>
              <a:t>4. Name: nsg-demo.</a:t>
            </a:r>
          </a:p>
          <a:p>
            <a:r>
              <a:t>5. Click 'Review + Create'.</a:t>
            </a:r>
          </a:p>
          <a:p>
            <a:r>
              <a:t>6. After creation → Open NSG.</a:t>
            </a:r>
          </a:p>
          <a:p>
            <a:r>
              <a:t>7. Inbound Security Rules → Add rule.</a:t>
            </a:r>
          </a:p>
          <a:p>
            <a:r>
              <a:t>8. Allow HTTP: Port 80, Action Allow, Priority 100.</a:t>
            </a:r>
          </a:p>
          <a:p>
            <a:r>
              <a:t>9. Save rule and associate NSG with VNet subnet.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Lab 5 – Enable Storage Firewall</a:t>
            </a:r>
          </a:p>
        </p:txBody>
      </p:sp>
      <p:sp>
        <p:nvSpPr>
          <p:cNvPr id="3" name="Content Placeholder 2"/>
          <p:cNvSpPr>
            <a:spLocks noGrp="1"/>
          </p:cNvSpPr>
          <p:nvPr>
            <p:ph idx="1"/>
          </p:nvPr>
        </p:nvSpPr>
        <p:spPr/>
        <p:txBody>
          <a:bodyPr/>
          <a:lstStyle/>
          <a:p>
            <a:r>
              <a:t>1. Open Storage Account.</a:t>
            </a:r>
          </a:p>
          <a:p>
            <a:r>
              <a:t>2. Left menu → 'Networking'.</a:t>
            </a:r>
          </a:p>
          <a:p>
            <a:r>
              <a:t>3. Select 'Enabled from selected networks'.</a:t>
            </a:r>
          </a:p>
          <a:p>
            <a:r>
              <a:t>4. Add your current IP address.</a:t>
            </a:r>
          </a:p>
          <a:p>
            <a:r>
              <a:t>5. Save settings.</a:t>
            </a:r>
          </a:p>
          <a:p>
            <a:r>
              <a:t>6. Try accessing container from another network → Blocked.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Lab 6 – Explore Defender for Cloud</a:t>
            </a:r>
          </a:p>
        </p:txBody>
      </p:sp>
      <p:sp>
        <p:nvSpPr>
          <p:cNvPr id="3" name="Content Placeholder 2"/>
          <p:cNvSpPr>
            <a:spLocks noGrp="1"/>
          </p:cNvSpPr>
          <p:nvPr>
            <p:ph idx="1"/>
          </p:nvPr>
        </p:nvSpPr>
        <p:spPr/>
        <p:txBody>
          <a:bodyPr/>
          <a:lstStyle/>
          <a:p>
            <a:r>
              <a:t>1. Search 'Defender for Cloud'.</a:t>
            </a:r>
          </a:p>
          <a:p>
            <a:r>
              <a:t>2. Open 'Overview'.</a:t>
            </a:r>
          </a:p>
          <a:p>
            <a:r>
              <a:t>3. Check your Secure Score.</a:t>
            </a:r>
          </a:p>
          <a:p>
            <a:r>
              <a:t>4. Click 'Recommendations'.</a:t>
            </a:r>
          </a:p>
          <a:p>
            <a:r>
              <a:t>5. Review each recommendation.</a:t>
            </a:r>
          </a:p>
          <a:p>
            <a:r>
              <a:t>6. Open one recommendation → Click 'Fix'.</a:t>
            </a:r>
          </a:p>
          <a:p>
            <a:r>
              <a:t>7. Run the suggested hardening steps.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Lab 7 – Create Conditional Access Policy (IAM Security)</a:t>
            </a:r>
          </a:p>
        </p:txBody>
      </p:sp>
      <p:sp>
        <p:nvSpPr>
          <p:cNvPr id="3" name="Content Placeholder 2"/>
          <p:cNvSpPr>
            <a:spLocks noGrp="1"/>
          </p:cNvSpPr>
          <p:nvPr>
            <p:ph idx="1"/>
          </p:nvPr>
        </p:nvSpPr>
        <p:spPr/>
        <p:txBody>
          <a:bodyPr/>
          <a:lstStyle/>
          <a:p>
            <a:r>
              <a:t>1. Go to Azure Active Directory.</a:t>
            </a:r>
          </a:p>
          <a:p>
            <a:r>
              <a:t>2. Click 'Security'.</a:t>
            </a:r>
          </a:p>
          <a:p>
            <a:r>
              <a:t>3. Click 'Conditional Access'.</a:t>
            </a:r>
          </a:p>
          <a:p>
            <a:r>
              <a:t>4. Create new policy.</a:t>
            </a:r>
          </a:p>
          <a:p>
            <a:r>
              <a:t>5. Assign a user → Select cloud app.</a:t>
            </a:r>
          </a:p>
          <a:p>
            <a:r>
              <a:t>6. Grant → Require MFA.</a:t>
            </a:r>
          </a:p>
          <a:p>
            <a:r>
              <a:t>7. Enable policy → Create.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 Deployment on Azure</a:t>
            </a:r>
          </a:p>
        </p:txBody>
      </p:sp>
      <p:sp>
        <p:nvSpPr>
          <p:cNvPr id="3" name="Content Placeholder 2"/>
          <p:cNvSpPr>
            <a:spLocks noGrp="1"/>
          </p:cNvSpPr>
          <p:nvPr>
            <p:ph idx="1"/>
          </p:nvPr>
        </p:nvSpPr>
        <p:spPr/>
        <p:txBody>
          <a:bodyPr/>
          <a:lstStyle/>
          <a:p>
            <a:endParaRPr dirty="0"/>
          </a:p>
          <a:p>
            <a:r>
              <a:rPr dirty="0"/>
              <a:t>Deploying web apps with App Service</a:t>
            </a:r>
          </a:p>
          <a:p>
            <a:r>
              <a:rPr dirty="0"/>
              <a:t>Using GitHub Actions / DevOps pipelines</a:t>
            </a:r>
          </a:p>
          <a:p>
            <a:r>
              <a:rPr dirty="0"/>
              <a:t>Monitoring and scaling apps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Deployment on Azure</a:t>
            </a:r>
          </a:p>
        </p:txBody>
      </p:sp>
      <p:sp>
        <p:nvSpPr>
          <p:cNvPr id="3" name="Content Placeholder 2"/>
          <p:cNvSpPr>
            <a:spLocks noGrp="1"/>
          </p:cNvSpPr>
          <p:nvPr>
            <p:ph idx="1"/>
          </p:nvPr>
        </p:nvSpPr>
        <p:spPr/>
        <p:txBody>
          <a:bodyPr/>
          <a:lstStyle/>
          <a:p>
            <a:r>
              <a:t>Web Apps • GitHub Actions • Azure DevOps • Monitoring • Scaling</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Azure App Service Overview</a:t>
            </a:r>
          </a:p>
        </p:txBody>
      </p:sp>
      <p:sp>
        <p:nvSpPr>
          <p:cNvPr id="3" name="Content Placeholder 2"/>
          <p:cNvSpPr>
            <a:spLocks noGrp="1"/>
          </p:cNvSpPr>
          <p:nvPr>
            <p:ph idx="1"/>
          </p:nvPr>
        </p:nvSpPr>
        <p:spPr/>
        <p:txBody>
          <a:bodyPr/>
          <a:lstStyle/>
          <a:p>
            <a:r>
              <a:rPr dirty="0"/>
              <a:t>Fully managed hosting</a:t>
            </a:r>
          </a:p>
          <a:p>
            <a:r>
              <a:rPr dirty="0"/>
              <a:t>Supports Node, Python, .NET, Java, PHP</a:t>
            </a:r>
          </a:p>
          <a:p>
            <a:r>
              <a:rPr dirty="0"/>
              <a:t>CI/CD integrated</a:t>
            </a:r>
          </a:p>
          <a:p>
            <a:r>
              <a:rPr dirty="0"/>
              <a:t>Autoscaling</a:t>
            </a:r>
          </a:p>
          <a:p>
            <a:r>
              <a:rPr dirty="0"/>
              <a:t>Managed identities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Lab 1: Create App Service</a:t>
            </a:r>
          </a:p>
        </p:txBody>
      </p:sp>
      <p:sp>
        <p:nvSpPr>
          <p:cNvPr id="3" name="Content Placeholder 2"/>
          <p:cNvSpPr>
            <a:spLocks noGrp="1"/>
          </p:cNvSpPr>
          <p:nvPr>
            <p:ph idx="1"/>
          </p:nvPr>
        </p:nvSpPr>
        <p:spPr/>
        <p:txBody>
          <a:bodyPr/>
          <a:lstStyle/>
          <a:p>
            <a:r>
              <a:t>1. Azure Portal → App Services → Create</a:t>
            </a:r>
          </a:p>
          <a:p>
            <a:r>
              <a:t>2. Resource Group: rg-webapp-demo</a:t>
            </a:r>
          </a:p>
          <a:p>
            <a:r>
              <a:t>3. Name: mywebapp-kenny-demo</a:t>
            </a:r>
          </a:p>
          <a:p>
            <a:r>
              <a:t>4. Runtime: Node/Python/.NET</a:t>
            </a:r>
          </a:p>
          <a:p>
            <a:r>
              <a:t>5. App Service Plan: F1 Free tier</a:t>
            </a:r>
          </a:p>
          <a:p>
            <a:r>
              <a:t>6. Review and create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Lab 2: Deploy Code (ZIP Deploy)</a:t>
            </a:r>
          </a:p>
        </p:txBody>
      </p:sp>
      <p:sp>
        <p:nvSpPr>
          <p:cNvPr id="3" name="Content Placeholder 2"/>
          <p:cNvSpPr>
            <a:spLocks noGrp="1"/>
          </p:cNvSpPr>
          <p:nvPr>
            <p:ph idx="1"/>
          </p:nvPr>
        </p:nvSpPr>
        <p:spPr/>
        <p:txBody>
          <a:bodyPr/>
          <a:lstStyle/>
          <a:p>
            <a:r>
              <a:t>• Prepare app folder</a:t>
            </a:r>
          </a:p>
          <a:p>
            <a:r>
              <a:t>• Create ZIP</a:t>
            </a:r>
          </a:p>
          <a:p>
            <a:r>
              <a:t>• App Service → Deployment Center → Zip Deploy</a:t>
            </a:r>
          </a:p>
          <a:p>
            <a:r>
              <a:t>• Upload and test URL</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Deploy Using VS Code</a:t>
            </a:r>
          </a:p>
        </p:txBody>
      </p:sp>
      <p:sp>
        <p:nvSpPr>
          <p:cNvPr id="3" name="Content Placeholder 2"/>
          <p:cNvSpPr>
            <a:spLocks noGrp="1"/>
          </p:cNvSpPr>
          <p:nvPr>
            <p:ph idx="1"/>
          </p:nvPr>
        </p:nvSpPr>
        <p:spPr/>
        <p:txBody>
          <a:bodyPr/>
          <a:lstStyle/>
          <a:p>
            <a:r>
              <a:t>1. Install Azure App Service extension</a:t>
            </a:r>
          </a:p>
          <a:p>
            <a:r>
              <a:t>2. Sign in to Azure</a:t>
            </a:r>
          </a:p>
          <a:p>
            <a:r>
              <a:t>3. Right-click project → Deploy to Web App</a:t>
            </a:r>
          </a:p>
          <a:p>
            <a:r>
              <a:t>4. Choose the App Service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Deploy Using GitHub Actions</a:t>
            </a:r>
          </a:p>
        </p:txBody>
      </p:sp>
      <p:sp>
        <p:nvSpPr>
          <p:cNvPr id="3" name="Content Placeholder 2"/>
          <p:cNvSpPr>
            <a:spLocks noGrp="1"/>
          </p:cNvSpPr>
          <p:nvPr>
            <p:ph idx="1"/>
          </p:nvPr>
        </p:nvSpPr>
        <p:spPr/>
        <p:txBody>
          <a:bodyPr/>
          <a:lstStyle/>
          <a:p>
            <a:r>
              <a:t>• App Service → Deployment Center → GitHub</a:t>
            </a:r>
          </a:p>
          <a:p>
            <a:r>
              <a:t>• Select repo and branch</a:t>
            </a:r>
          </a:p>
          <a:p>
            <a:r>
              <a:t>• Azure auto-generates GitHub workflow (.yml)</a:t>
            </a:r>
          </a:p>
          <a:p>
            <a:r>
              <a:t>• Push → Auto deploy</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GitHub Workflow</a:t>
            </a:r>
          </a:p>
        </p:txBody>
      </p:sp>
      <p:sp>
        <p:nvSpPr>
          <p:cNvPr id="3" name="Content Placeholder 2"/>
          <p:cNvSpPr>
            <a:spLocks noGrp="1"/>
          </p:cNvSpPr>
          <p:nvPr>
            <p:ph idx="1"/>
          </p:nvPr>
        </p:nvSpPr>
        <p:spPr/>
        <p:txBody>
          <a:bodyPr/>
          <a:lstStyle/>
          <a:p>
            <a:r>
              <a:t>YAML pipeline auto-created to build + deploy.</a:t>
            </a:r>
          </a:p>
          <a:p>
            <a:r>
              <a:t>Stored under .github/workflows/azure-webapp.yml</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Azure DevOps Pipeline</a:t>
            </a:r>
          </a:p>
        </p:txBody>
      </p:sp>
      <p:sp>
        <p:nvSpPr>
          <p:cNvPr id="3" name="Content Placeholder 2"/>
          <p:cNvSpPr>
            <a:spLocks noGrp="1"/>
          </p:cNvSpPr>
          <p:nvPr>
            <p:ph idx="1"/>
          </p:nvPr>
        </p:nvSpPr>
        <p:spPr/>
        <p:txBody>
          <a:bodyPr/>
          <a:lstStyle/>
          <a:p>
            <a:r>
              <a:t>1. Create project</a:t>
            </a:r>
          </a:p>
          <a:p>
            <a:r>
              <a:t>2. Connect GitHub repo</a:t>
            </a:r>
          </a:p>
          <a:p>
            <a:r>
              <a:t>3. Generate YAML pipeline</a:t>
            </a:r>
          </a:p>
          <a:p>
            <a:r>
              <a:t>4. Publish artifacts</a:t>
            </a:r>
          </a:p>
          <a:p>
            <a:r>
              <a:t>5. Create Release Pipeline</a:t>
            </a:r>
          </a:p>
          <a:p>
            <a:r>
              <a:t>6. Deploy to App Service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Monitoring with App Insights</a:t>
            </a:r>
          </a:p>
        </p:txBody>
      </p:sp>
      <p:sp>
        <p:nvSpPr>
          <p:cNvPr id="3" name="Content Placeholder 2"/>
          <p:cNvSpPr>
            <a:spLocks noGrp="1"/>
          </p:cNvSpPr>
          <p:nvPr>
            <p:ph idx="1"/>
          </p:nvPr>
        </p:nvSpPr>
        <p:spPr/>
        <p:txBody>
          <a:bodyPr/>
          <a:lstStyle/>
          <a:p>
            <a:r>
              <a:t>• Requests</a:t>
            </a:r>
          </a:p>
          <a:p>
            <a:r>
              <a:t>• Response time</a:t>
            </a:r>
          </a:p>
          <a:p>
            <a:r>
              <a:t>• Failures</a:t>
            </a:r>
          </a:p>
          <a:p>
            <a:r>
              <a:t>• Dependency calls</a:t>
            </a:r>
          </a:p>
          <a:p>
            <a:r>
              <a:t>• Live Metrics</a:t>
            </a:r>
          </a:p>
          <a:p>
            <a:r>
              <a:t>• Alerts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Scaling Web Apps</a:t>
            </a:r>
          </a:p>
        </p:txBody>
      </p:sp>
      <p:sp>
        <p:nvSpPr>
          <p:cNvPr id="3" name="Content Placeholder 2"/>
          <p:cNvSpPr>
            <a:spLocks noGrp="1"/>
          </p:cNvSpPr>
          <p:nvPr>
            <p:ph idx="1"/>
          </p:nvPr>
        </p:nvSpPr>
        <p:spPr/>
        <p:txBody>
          <a:bodyPr/>
          <a:lstStyle/>
          <a:p>
            <a:r>
              <a:t>• Scale Up: Increase CPU/RAM</a:t>
            </a:r>
          </a:p>
          <a:p>
            <a:r>
              <a:t>• Scale Out: More instances</a:t>
            </a:r>
          </a:p>
          <a:p>
            <a:r>
              <a:t>• Autoscale rules based on metrics</a:t>
            </a:r>
          </a:p>
          <a:p>
            <a:endParaRPr/>
          </a:p>
          <a:p>
            <a:r>
              <a:t>Example:</a:t>
            </a:r>
          </a:p>
          <a:p>
            <a:r>
              <a:t>CPU &gt; 70% → Scale out +1</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r>
              <a:t>Hands-on Azure Deployment Module Completed.</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Azure CLI Basics</a:t>
            </a:r>
          </a:p>
        </p:txBody>
      </p:sp>
      <p:sp>
        <p:nvSpPr>
          <p:cNvPr id="3" name="Content Placeholder 2"/>
          <p:cNvSpPr>
            <a:spLocks noGrp="1"/>
          </p:cNvSpPr>
          <p:nvPr>
            <p:ph idx="1"/>
          </p:nvPr>
        </p:nvSpPr>
        <p:spPr/>
        <p:txBody>
          <a:bodyPr/>
          <a:lstStyle/>
          <a:p>
            <a:endParaRPr dirty="0"/>
          </a:p>
          <a:p>
            <a:r>
              <a:rPr dirty="0"/>
              <a:t>Install &amp; login: </a:t>
            </a:r>
            <a:r>
              <a:rPr dirty="0" err="1"/>
              <a:t>az</a:t>
            </a:r>
            <a:r>
              <a:rPr dirty="0"/>
              <a:t> login</a:t>
            </a:r>
          </a:p>
          <a:p>
            <a:r>
              <a:rPr dirty="0"/>
              <a:t>Create resources: </a:t>
            </a:r>
            <a:r>
              <a:rPr dirty="0" err="1"/>
              <a:t>az</a:t>
            </a:r>
            <a:r>
              <a:rPr dirty="0"/>
              <a:t> group create, </a:t>
            </a:r>
            <a:r>
              <a:rPr dirty="0" err="1"/>
              <a:t>az</a:t>
            </a:r>
            <a:r>
              <a:rPr dirty="0"/>
              <a:t> </a:t>
            </a:r>
            <a:r>
              <a:rPr dirty="0" err="1"/>
              <a:t>vm</a:t>
            </a:r>
            <a:r>
              <a:rPr dirty="0"/>
              <a:t> create</a:t>
            </a:r>
          </a:p>
          <a:p>
            <a:r>
              <a:rPr dirty="0"/>
              <a:t>Manage storage and deployments</a:t>
            </a:r>
          </a:p>
          <a:p>
            <a:r>
              <a:rPr dirty="0"/>
              <a:t>Scripting and automation</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Azure CLI Basics</a:t>
            </a:r>
          </a:p>
        </p:txBody>
      </p:sp>
      <p:sp>
        <p:nvSpPr>
          <p:cNvPr id="3" name="Content Placeholder 2"/>
          <p:cNvSpPr>
            <a:spLocks noGrp="1"/>
          </p:cNvSpPr>
          <p:nvPr>
            <p:ph idx="1"/>
          </p:nvPr>
        </p:nvSpPr>
        <p:spPr/>
        <p:txBody>
          <a:bodyPr/>
          <a:lstStyle/>
          <a:p>
            <a:r>
              <a:t>Install • Login • Create Resources • Storage • Deployments • Automation</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Install Azure CLI</a:t>
            </a:r>
          </a:p>
        </p:txBody>
      </p:sp>
      <p:sp>
        <p:nvSpPr>
          <p:cNvPr id="3" name="Content Placeholder 2"/>
          <p:cNvSpPr>
            <a:spLocks noGrp="1"/>
          </p:cNvSpPr>
          <p:nvPr>
            <p:ph idx="1"/>
          </p:nvPr>
        </p:nvSpPr>
        <p:spPr/>
        <p:txBody>
          <a:bodyPr/>
          <a:lstStyle/>
          <a:p>
            <a:r>
              <a:t>Windows: MSI Installer</a:t>
            </a:r>
          </a:p>
          <a:p>
            <a:r>
              <a:t>macOS: brew install azure-cli</a:t>
            </a:r>
          </a:p>
          <a:p>
            <a:r>
              <a:t>Linux: curl | bash</a:t>
            </a:r>
          </a:p>
          <a:p>
            <a:r>
              <a:t>Verify: az --version</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Login to Azure</a:t>
            </a:r>
          </a:p>
        </p:txBody>
      </p:sp>
      <p:sp>
        <p:nvSpPr>
          <p:cNvPr id="3" name="Content Placeholder 2"/>
          <p:cNvSpPr>
            <a:spLocks noGrp="1"/>
          </p:cNvSpPr>
          <p:nvPr>
            <p:ph idx="1"/>
          </p:nvPr>
        </p:nvSpPr>
        <p:spPr/>
        <p:txBody>
          <a:bodyPr/>
          <a:lstStyle/>
          <a:p>
            <a:r>
              <a:t>Interactive login:</a:t>
            </a:r>
          </a:p>
          <a:p>
            <a:r>
              <a:t>az login</a:t>
            </a:r>
          </a:p>
          <a:p>
            <a:endParaRPr/>
          </a:p>
          <a:p>
            <a:r>
              <a:t>Set subscription:</a:t>
            </a:r>
          </a:p>
          <a:p>
            <a:r>
              <a:t>az account set --subscription "&lt;ID&gt;"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Lab 1: Create Resource Group</a:t>
            </a:r>
          </a:p>
        </p:txBody>
      </p:sp>
      <p:sp>
        <p:nvSpPr>
          <p:cNvPr id="3" name="Content Placeholder 2"/>
          <p:cNvSpPr>
            <a:spLocks noGrp="1"/>
          </p:cNvSpPr>
          <p:nvPr>
            <p:ph idx="1"/>
          </p:nvPr>
        </p:nvSpPr>
        <p:spPr/>
        <p:txBody>
          <a:bodyPr/>
          <a:lstStyle/>
          <a:p>
            <a:r>
              <a:t>Command:</a:t>
            </a:r>
          </a:p>
          <a:p>
            <a:r>
              <a:t>az group create --name rg-azurecli-demo --location CentralIndia</a:t>
            </a:r>
          </a:p>
          <a:p>
            <a:endParaRPr/>
          </a:p>
          <a:p>
            <a:r>
              <a:t>View RG:</a:t>
            </a:r>
          </a:p>
          <a:p>
            <a:r>
              <a:t>az group show -n rg-azurecli-demo -o table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Lab 2: Create VM</a:t>
            </a:r>
          </a:p>
        </p:txBody>
      </p:sp>
      <p:sp>
        <p:nvSpPr>
          <p:cNvPr id="3" name="Content Placeholder 2"/>
          <p:cNvSpPr>
            <a:spLocks noGrp="1"/>
          </p:cNvSpPr>
          <p:nvPr>
            <p:ph idx="1"/>
          </p:nvPr>
        </p:nvSpPr>
        <p:spPr/>
        <p:txBody>
          <a:bodyPr/>
          <a:lstStyle/>
          <a:p>
            <a:r>
              <a:t>Create Ubuntu VM:</a:t>
            </a:r>
          </a:p>
          <a:p>
            <a:r>
              <a:t>az vm create --resource-group rg-azurecli-demo --name demoVM --image UbuntuLTS --generate-ssh-keys --size Standard_B1s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VM Management</a:t>
            </a:r>
          </a:p>
        </p:txBody>
      </p:sp>
      <p:sp>
        <p:nvSpPr>
          <p:cNvPr id="3" name="Content Placeholder 2"/>
          <p:cNvSpPr>
            <a:spLocks noGrp="1"/>
          </p:cNvSpPr>
          <p:nvPr>
            <p:ph idx="1"/>
          </p:nvPr>
        </p:nvSpPr>
        <p:spPr/>
        <p:txBody>
          <a:bodyPr/>
          <a:lstStyle/>
          <a:p>
            <a:r>
              <a:t>Open Port 80:</a:t>
            </a:r>
          </a:p>
          <a:p>
            <a:r>
              <a:t>az vm open-port -g rg-azurecli-demo -n demoVM --port 80</a:t>
            </a:r>
          </a:p>
          <a:p>
            <a:endParaRPr/>
          </a:p>
          <a:p>
            <a:r>
              <a:t>Get IP:</a:t>
            </a:r>
          </a:p>
          <a:p>
            <a:r>
              <a:t>az vm list-ip-addresses -n demoVM -g rg-azurecli-demo -o table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Delete / Start / Stop VM</a:t>
            </a:r>
          </a:p>
        </p:txBody>
      </p:sp>
      <p:sp>
        <p:nvSpPr>
          <p:cNvPr id="3" name="Content Placeholder 2"/>
          <p:cNvSpPr>
            <a:spLocks noGrp="1"/>
          </p:cNvSpPr>
          <p:nvPr>
            <p:ph idx="1"/>
          </p:nvPr>
        </p:nvSpPr>
        <p:spPr/>
        <p:txBody>
          <a:bodyPr/>
          <a:lstStyle/>
          <a:p>
            <a:r>
              <a:t>az vm stop -g rg -n vm</a:t>
            </a:r>
          </a:p>
          <a:p>
            <a:r>
              <a:t>az vm start -g rg -n vm</a:t>
            </a:r>
          </a:p>
          <a:p>
            <a:r>
              <a:t>az vm delete -g rg -n vm --yes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Storage Account Creation</a:t>
            </a:r>
          </a:p>
        </p:txBody>
      </p:sp>
      <p:sp>
        <p:nvSpPr>
          <p:cNvPr id="3" name="Content Placeholder 2"/>
          <p:cNvSpPr>
            <a:spLocks noGrp="1"/>
          </p:cNvSpPr>
          <p:nvPr>
            <p:ph idx="1"/>
          </p:nvPr>
        </p:nvSpPr>
        <p:spPr/>
        <p:txBody>
          <a:bodyPr/>
          <a:lstStyle/>
          <a:p>
            <a:r>
              <a:t>Create:</a:t>
            </a:r>
          </a:p>
          <a:p>
            <a:r>
              <a:t>az storage account create -n mystorageacct12345 -g rg-azurecli-demo --sku Standard_LRS</a:t>
            </a:r>
          </a:p>
          <a:p>
            <a:endParaRPr/>
          </a:p>
          <a:p>
            <a:r>
              <a:t>Get Key:</a:t>
            </a:r>
          </a:p>
          <a:p>
            <a:r>
              <a:t>KEY=$(az storage account keys list -g rg -n acct --query "[0].value" -o tsv)</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Blob Container &amp; Upload</a:t>
            </a:r>
          </a:p>
        </p:txBody>
      </p:sp>
      <p:sp>
        <p:nvSpPr>
          <p:cNvPr id="3" name="Content Placeholder 2"/>
          <p:cNvSpPr>
            <a:spLocks noGrp="1"/>
          </p:cNvSpPr>
          <p:nvPr>
            <p:ph idx="1"/>
          </p:nvPr>
        </p:nvSpPr>
        <p:spPr/>
        <p:txBody>
          <a:bodyPr/>
          <a:lstStyle/>
          <a:p>
            <a:r>
              <a:t>Create container:</a:t>
            </a:r>
          </a:p>
          <a:p>
            <a:r>
              <a:t>az storage container create -n demo-container --account-name acct --account-key $KEY</a:t>
            </a:r>
          </a:p>
          <a:p>
            <a:endParaRPr/>
          </a:p>
          <a:p>
            <a:r>
              <a:t>Upload:</a:t>
            </a:r>
          </a:p>
          <a:p>
            <a:r>
              <a:t>az storage blob upload --account-name acct --account-key $KEY --container-name demo-container --file file.txt --name file.txt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ARM/Bicep Deployment</a:t>
            </a:r>
          </a:p>
        </p:txBody>
      </p:sp>
      <p:sp>
        <p:nvSpPr>
          <p:cNvPr id="3" name="Content Placeholder 2"/>
          <p:cNvSpPr>
            <a:spLocks noGrp="1"/>
          </p:cNvSpPr>
          <p:nvPr>
            <p:ph idx="1"/>
          </p:nvPr>
        </p:nvSpPr>
        <p:spPr/>
        <p:txBody>
          <a:bodyPr/>
          <a:lstStyle/>
          <a:p>
            <a:r>
              <a:t>Validate:</a:t>
            </a:r>
          </a:p>
          <a:p>
            <a:r>
              <a:t>az deployment group validate -g rg --template-file template.json</a:t>
            </a:r>
          </a:p>
          <a:p>
            <a:endParaRPr/>
          </a:p>
          <a:p>
            <a:r>
              <a:t>Deploy:</a:t>
            </a:r>
          </a:p>
          <a:p>
            <a:r>
              <a:t>az deployment group create -g rg --template-file template.json --parameters @params.json</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Automation: Bash Script</a:t>
            </a:r>
          </a:p>
        </p:txBody>
      </p:sp>
      <p:sp>
        <p:nvSpPr>
          <p:cNvPr id="3" name="Content Placeholder 2"/>
          <p:cNvSpPr>
            <a:spLocks noGrp="1"/>
          </p:cNvSpPr>
          <p:nvPr>
            <p:ph idx="1"/>
          </p:nvPr>
        </p:nvSpPr>
        <p:spPr/>
        <p:txBody>
          <a:bodyPr/>
          <a:lstStyle/>
          <a:p>
            <a:r>
              <a:t>Use SP login:</a:t>
            </a:r>
          </a:p>
          <a:p>
            <a:r>
              <a:t>az login --service-principal -u &lt;appId&gt; -p &lt;pwd&gt; --tenant &lt;tenant&gt;</a:t>
            </a:r>
          </a:p>
          <a:p>
            <a:endParaRPr/>
          </a:p>
          <a:p>
            <a:r>
              <a:t>Run scripts for infra creation.</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r>
              <a:t>Azure CLI Training PPTX Completed.</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Automation &amp; Best Practices</a:t>
            </a:r>
          </a:p>
        </p:txBody>
      </p:sp>
      <p:sp>
        <p:nvSpPr>
          <p:cNvPr id="3" name="Content Placeholder 2"/>
          <p:cNvSpPr>
            <a:spLocks noGrp="1"/>
          </p:cNvSpPr>
          <p:nvPr>
            <p:ph idx="1"/>
          </p:nvPr>
        </p:nvSpPr>
        <p:spPr/>
        <p:txBody>
          <a:bodyPr/>
          <a:lstStyle/>
          <a:p>
            <a:endParaRPr/>
          </a:p>
          <a:p>
            <a:r>
              <a:t>Use ARM Templates and Bicep</a:t>
            </a:r>
          </a:p>
          <a:p>
            <a:r>
              <a:t>Use CLI for repeatable deployments</a:t>
            </a:r>
          </a:p>
          <a:p>
            <a:r>
              <a:t>Use tagging for resource management</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Azure Cloud – </a:t>
            </a:r>
            <a:r>
              <a:rPr b="1" dirty="0">
                <a:solidFill>
                  <a:srgbClr val="FF0000"/>
                </a:solidFill>
              </a:rPr>
              <a:t>Advanced Lab </a:t>
            </a:r>
            <a:r>
              <a:rPr dirty="0"/>
              <a:t>&amp; Architecture PPT</a:t>
            </a:r>
          </a:p>
        </p:txBody>
      </p:sp>
      <p:sp>
        <p:nvSpPr>
          <p:cNvPr id="3" name="Subtitle 2"/>
          <p:cNvSpPr>
            <a:spLocks noGrp="1"/>
          </p:cNvSpPr>
          <p:nvPr>
            <p:ph type="subTitle" idx="1"/>
          </p:nvPr>
        </p:nvSpPr>
        <p:spPr/>
        <p:txBody>
          <a:bodyPr/>
          <a:lstStyle/>
          <a:p>
            <a:r>
              <a:t>With Diagrams &amp; Hands-on Exercises</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Lab 1: Azure Portal Basics</a:t>
            </a:r>
          </a:p>
        </p:txBody>
      </p:sp>
      <p:sp>
        <p:nvSpPr>
          <p:cNvPr id="3" name="Content Placeholder 2"/>
          <p:cNvSpPr>
            <a:spLocks noGrp="1"/>
          </p:cNvSpPr>
          <p:nvPr>
            <p:ph idx="1"/>
          </p:nvPr>
        </p:nvSpPr>
        <p:spPr/>
        <p:txBody>
          <a:bodyPr/>
          <a:lstStyle/>
          <a:p>
            <a:endParaRPr/>
          </a:p>
          <a:p>
            <a:r>
              <a:t>Login to portal.azure.com</a:t>
            </a:r>
          </a:p>
          <a:p>
            <a:r>
              <a:t>Navigate Dashboard &amp; Resource groups</a:t>
            </a:r>
          </a:p>
          <a:p>
            <a:r>
              <a:t>Create a Resource Group</a:t>
            </a:r>
          </a:p>
          <a:p>
            <a:r>
              <a:t>Create a Storage Account</a:t>
            </a:r>
          </a:p>
          <a:p>
            <a:r>
              <a:t>Create a Web App</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Lab 2: Deploy an App using Azure App Service</a:t>
            </a:r>
          </a:p>
        </p:txBody>
      </p:sp>
      <p:sp>
        <p:nvSpPr>
          <p:cNvPr id="3" name="Content Placeholder 2"/>
          <p:cNvSpPr>
            <a:spLocks noGrp="1"/>
          </p:cNvSpPr>
          <p:nvPr>
            <p:ph idx="1"/>
          </p:nvPr>
        </p:nvSpPr>
        <p:spPr/>
        <p:txBody>
          <a:bodyPr/>
          <a:lstStyle/>
          <a:p>
            <a:endParaRPr/>
          </a:p>
          <a:p>
            <a:r>
              <a:t>Create Azure App Service</a:t>
            </a:r>
          </a:p>
          <a:p>
            <a:r>
              <a:t>Configure runtime stack (Node/Python/.NET)</a:t>
            </a:r>
          </a:p>
          <a:p>
            <a:r>
              <a:t>Deploy sample app using Deployment Center</a:t>
            </a:r>
          </a:p>
          <a:p>
            <a:r>
              <a:t>Verify URL and monitor logs</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Lab 3: Azure CLI Automation</a:t>
            </a:r>
          </a:p>
        </p:txBody>
      </p:sp>
      <p:sp>
        <p:nvSpPr>
          <p:cNvPr id="3" name="Content Placeholder 2"/>
          <p:cNvSpPr>
            <a:spLocks noGrp="1"/>
          </p:cNvSpPr>
          <p:nvPr>
            <p:ph idx="1"/>
          </p:nvPr>
        </p:nvSpPr>
        <p:spPr/>
        <p:txBody>
          <a:bodyPr/>
          <a:lstStyle/>
          <a:p>
            <a:endParaRPr/>
          </a:p>
          <a:p>
            <a:r>
              <a:t>Install Azure CLI</a:t>
            </a:r>
          </a:p>
          <a:p>
            <a:r>
              <a:t>Login: az login</a:t>
            </a:r>
          </a:p>
          <a:p>
            <a:r>
              <a:t>Create Resource Group: az group create</a:t>
            </a:r>
          </a:p>
          <a:p>
            <a:r>
              <a:t>Create VM: az vm create</a:t>
            </a:r>
          </a:p>
          <a:p>
            <a:r>
              <a:t>Check resources: az resource list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Lab 4: Automate Storage Creation</a:t>
            </a:r>
          </a:p>
        </p:txBody>
      </p:sp>
      <p:sp>
        <p:nvSpPr>
          <p:cNvPr id="3" name="Content Placeholder 2"/>
          <p:cNvSpPr>
            <a:spLocks noGrp="1"/>
          </p:cNvSpPr>
          <p:nvPr>
            <p:ph idx="1"/>
          </p:nvPr>
        </p:nvSpPr>
        <p:spPr/>
        <p:txBody>
          <a:bodyPr/>
          <a:lstStyle/>
          <a:p>
            <a:endParaRPr/>
          </a:p>
          <a:p>
            <a:r>
              <a:t>az storage account create ...</a:t>
            </a:r>
          </a:p>
          <a:p>
            <a:r>
              <a:t>az storage container create ...</a:t>
            </a:r>
          </a:p>
          <a:p>
            <a:r>
              <a:t>Upload and download blobs</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Azure Architecture – Basic Cloud Components</a:t>
            </a:r>
          </a:p>
        </p:txBody>
      </p:sp>
      <p:sp>
        <p:nvSpPr>
          <p:cNvPr id="3" name="Rounded Rectangle 2"/>
          <p:cNvSpPr/>
          <p:nvPr/>
        </p:nvSpPr>
        <p:spPr>
          <a:xfrm>
            <a:off x="565608" y="2286000"/>
            <a:ext cx="18288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t>Users</a:t>
            </a:r>
          </a:p>
        </p:txBody>
      </p:sp>
      <p:sp>
        <p:nvSpPr>
          <p:cNvPr id="4" name="Rounded Rectangle 3"/>
          <p:cNvSpPr/>
          <p:nvPr/>
        </p:nvSpPr>
        <p:spPr>
          <a:xfrm>
            <a:off x="2743201" y="2233057"/>
            <a:ext cx="18288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rPr dirty="0"/>
              <a:t>Azure Front Door</a:t>
            </a:r>
          </a:p>
        </p:txBody>
      </p:sp>
      <p:sp>
        <p:nvSpPr>
          <p:cNvPr id="5" name="Rounded Rectangle 4"/>
          <p:cNvSpPr/>
          <p:nvPr/>
        </p:nvSpPr>
        <p:spPr>
          <a:xfrm>
            <a:off x="4920794" y="2223630"/>
            <a:ext cx="18288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t>App Service</a:t>
            </a:r>
          </a:p>
        </p:txBody>
      </p:sp>
      <p:sp>
        <p:nvSpPr>
          <p:cNvPr id="6" name="Rounded Rectangle 5"/>
          <p:cNvSpPr/>
          <p:nvPr/>
        </p:nvSpPr>
        <p:spPr>
          <a:xfrm>
            <a:off x="7169084" y="2223630"/>
            <a:ext cx="18288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rPr dirty="0"/>
              <a:t>Database</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Storage Workflow Diagram</a:t>
            </a:r>
          </a:p>
        </p:txBody>
      </p:sp>
      <p:sp>
        <p:nvSpPr>
          <p:cNvPr id="3" name="Rounded Rectangle 2"/>
          <p:cNvSpPr/>
          <p:nvPr/>
        </p:nvSpPr>
        <p:spPr>
          <a:xfrm>
            <a:off x="457200" y="2672499"/>
            <a:ext cx="18288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t>Client</a:t>
            </a:r>
          </a:p>
        </p:txBody>
      </p:sp>
      <p:sp>
        <p:nvSpPr>
          <p:cNvPr id="4" name="Rounded Rectangle 3"/>
          <p:cNvSpPr/>
          <p:nvPr/>
        </p:nvSpPr>
        <p:spPr>
          <a:xfrm>
            <a:off x="2672499" y="2672499"/>
            <a:ext cx="18288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rPr dirty="0"/>
              <a:t>Storage Account</a:t>
            </a:r>
          </a:p>
        </p:txBody>
      </p:sp>
      <p:sp>
        <p:nvSpPr>
          <p:cNvPr id="5" name="Rounded Rectangle 4"/>
          <p:cNvSpPr/>
          <p:nvPr/>
        </p:nvSpPr>
        <p:spPr>
          <a:xfrm>
            <a:off x="4887798" y="2672499"/>
            <a:ext cx="18288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t>Blob Container</a:t>
            </a:r>
          </a:p>
        </p:txBody>
      </p:sp>
      <p:sp>
        <p:nvSpPr>
          <p:cNvPr id="6" name="Rounded Rectangle 5"/>
          <p:cNvSpPr/>
          <p:nvPr/>
        </p:nvSpPr>
        <p:spPr>
          <a:xfrm>
            <a:off x="7103097" y="2677212"/>
            <a:ext cx="18288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rPr dirty="0"/>
              <a:t>Files</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VM Lifecycle Diagram</a:t>
            </a:r>
          </a:p>
        </p:txBody>
      </p:sp>
      <p:sp>
        <p:nvSpPr>
          <p:cNvPr id="3" name="Rounded Rectangle 2"/>
          <p:cNvSpPr/>
          <p:nvPr/>
        </p:nvSpPr>
        <p:spPr>
          <a:xfrm>
            <a:off x="457200" y="2615938"/>
            <a:ext cx="18288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t>Create VM</a:t>
            </a:r>
          </a:p>
        </p:txBody>
      </p:sp>
      <p:sp>
        <p:nvSpPr>
          <p:cNvPr id="4" name="Rounded Rectangle 3"/>
          <p:cNvSpPr/>
          <p:nvPr/>
        </p:nvSpPr>
        <p:spPr>
          <a:xfrm>
            <a:off x="2823328" y="2615938"/>
            <a:ext cx="18288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t>Start</a:t>
            </a:r>
          </a:p>
        </p:txBody>
      </p:sp>
      <p:sp>
        <p:nvSpPr>
          <p:cNvPr id="5" name="Rounded Rectangle 4"/>
          <p:cNvSpPr/>
          <p:nvPr/>
        </p:nvSpPr>
        <p:spPr>
          <a:xfrm>
            <a:off x="4949072" y="2615938"/>
            <a:ext cx="18288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t>Run / Monitor</a:t>
            </a:r>
          </a:p>
        </p:txBody>
      </p:sp>
      <p:sp>
        <p:nvSpPr>
          <p:cNvPr id="6" name="Rounded Rectangle 5"/>
          <p:cNvSpPr/>
          <p:nvPr/>
        </p:nvSpPr>
        <p:spPr>
          <a:xfrm>
            <a:off x="7183224" y="2615938"/>
            <a:ext cx="18288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rPr dirty="0"/>
              <a:t>Stop / Deallocate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1138</TotalTime>
  <Words>2487</Words>
  <Application>Microsoft Office PowerPoint</Application>
  <PresentationFormat>On-screen Show (4:3)</PresentationFormat>
  <Paragraphs>400</Paragraphs>
  <Slides>80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80</vt:i4>
      </vt:variant>
    </vt:vector>
  </HeadingPairs>
  <TitlesOfParts>
    <vt:vector size="83" baseType="lpstr">
      <vt:lpstr>Arial</vt:lpstr>
      <vt:lpstr>Calibri</vt:lpstr>
      <vt:lpstr>Office Theme</vt:lpstr>
      <vt:lpstr>Basics of Cloud &amp; Azure</vt:lpstr>
      <vt:lpstr>PowerPoint Presentation</vt:lpstr>
      <vt:lpstr>What is Cloud Computing?</vt:lpstr>
      <vt:lpstr>PowerPoint Presentation</vt:lpstr>
      <vt:lpstr>Azure Architecture Diagram (With Labeled Components)</vt:lpstr>
      <vt:lpstr>Azure Cloud Overview</vt:lpstr>
      <vt:lpstr>PowerPoint Presentation</vt:lpstr>
      <vt:lpstr>Azure Portal Navigation</vt:lpstr>
      <vt:lpstr>PowerPoint Presentation</vt:lpstr>
      <vt:lpstr>PowerPoint Presentation</vt:lpstr>
      <vt:lpstr>PowerPoint Presentation</vt:lpstr>
      <vt:lpstr>Resource Creation in Azure</vt:lpstr>
      <vt:lpstr>PowerPoint Presentation</vt:lpstr>
      <vt:lpstr>Azure Free Tier Lab (No VMs)</vt:lpstr>
      <vt:lpstr>Step 1 – Create a Resource Group</vt:lpstr>
      <vt:lpstr>Step 2 – Create a Storage Account</vt:lpstr>
      <vt:lpstr>Storage Lab – Upload a Blob</vt:lpstr>
      <vt:lpstr>Step 3 – Create App Service (Free Tier)</vt:lpstr>
      <vt:lpstr>Deploy Simple Web App (ZIP Deploy)</vt:lpstr>
      <vt:lpstr>Simple Web Page (Copy &amp; Use)</vt:lpstr>
      <vt:lpstr>Step 4 – Create Azure Function App</vt:lpstr>
      <vt:lpstr>Function App Lab – HTTP Trigger</vt:lpstr>
      <vt:lpstr>Step 5 – Add a Cost Budget</vt:lpstr>
      <vt:lpstr>Step 6 – Cleanup</vt:lpstr>
      <vt:lpstr>Azure Storage Overview</vt:lpstr>
      <vt:lpstr>PowerPoint Presentation</vt:lpstr>
      <vt:lpstr>PowerPoint Presentation</vt:lpstr>
      <vt:lpstr>Azure Containers: Real-World Use Case</vt:lpstr>
      <vt:lpstr>Use Case Overview</vt:lpstr>
      <vt:lpstr>Architecture</vt:lpstr>
      <vt:lpstr>Step 1: Create Storage Account</vt:lpstr>
      <vt:lpstr>Step 2: Build Docker App</vt:lpstr>
      <vt:lpstr>Step 3: Push to ACR</vt:lpstr>
      <vt:lpstr>Step 4: Deploy to ACI</vt:lpstr>
      <vt:lpstr>Step 5: Test</vt:lpstr>
      <vt:lpstr>Azure Security Basics</vt:lpstr>
      <vt:lpstr>Azure IAM &amp; RBAC Lab – Screenshots</vt:lpstr>
      <vt:lpstr>PowerPoint Presentation</vt:lpstr>
      <vt:lpstr>Azure Security Labs – Step-by-Step Guide</vt:lpstr>
      <vt:lpstr>Lab 1 – Create a User in Azure AD (IAM)</vt:lpstr>
      <vt:lpstr>Lab 2 – Assign RBAC Role to a User</vt:lpstr>
      <vt:lpstr>Lab 3 – Create a Virtual Network</vt:lpstr>
      <vt:lpstr>Lab 4 – Create and Configure NSG</vt:lpstr>
      <vt:lpstr>Lab 5 – Enable Storage Firewall</vt:lpstr>
      <vt:lpstr>Lab 6 – Explore Defender for Cloud</vt:lpstr>
      <vt:lpstr>Lab 7 – Create Conditional Access Policy (IAM Security)</vt:lpstr>
      <vt:lpstr>App Deployment on Azure</vt:lpstr>
      <vt:lpstr>Deployment on Azure</vt:lpstr>
      <vt:lpstr>Azure App Service Overview</vt:lpstr>
      <vt:lpstr>Lab 1: Create App Service</vt:lpstr>
      <vt:lpstr>Lab 2: Deploy Code (ZIP Deploy)</vt:lpstr>
      <vt:lpstr>Deploy Using VS Code</vt:lpstr>
      <vt:lpstr>Deploy Using GitHub Actions</vt:lpstr>
      <vt:lpstr>Example GitHub Workflow</vt:lpstr>
      <vt:lpstr>Azure DevOps Pipeline</vt:lpstr>
      <vt:lpstr>Monitoring with App Insights</vt:lpstr>
      <vt:lpstr>Scaling Web Apps</vt:lpstr>
      <vt:lpstr>Thank You</vt:lpstr>
      <vt:lpstr>Azure CLI Basics</vt:lpstr>
      <vt:lpstr>Azure CLI Basics</vt:lpstr>
      <vt:lpstr>Install Azure CLI</vt:lpstr>
      <vt:lpstr>Login to Azure</vt:lpstr>
      <vt:lpstr>Lab 1: Create Resource Group</vt:lpstr>
      <vt:lpstr>Lab 2: Create VM</vt:lpstr>
      <vt:lpstr>VM Management</vt:lpstr>
      <vt:lpstr>Delete / Start / Stop VM</vt:lpstr>
      <vt:lpstr>Storage Account Creation</vt:lpstr>
      <vt:lpstr>Blob Container &amp; Upload</vt:lpstr>
      <vt:lpstr>ARM/Bicep Deployment</vt:lpstr>
      <vt:lpstr>Automation: Bash Script</vt:lpstr>
      <vt:lpstr>Thank You</vt:lpstr>
      <vt:lpstr>Automation &amp; Best Practices</vt:lpstr>
      <vt:lpstr>Azure Cloud – Advanced Lab &amp; Architecture PPT</vt:lpstr>
      <vt:lpstr>Lab 1: Azure Portal Basics</vt:lpstr>
      <vt:lpstr>Lab 2: Deploy an App using Azure App Service</vt:lpstr>
      <vt:lpstr>Lab 3: Azure CLI Automation</vt:lpstr>
      <vt:lpstr>Lab 4: Automate Storage Creation</vt:lpstr>
      <vt:lpstr>Azure Architecture – Basic Cloud Components</vt:lpstr>
      <vt:lpstr>Storage Workflow Diagram</vt:lpstr>
      <vt:lpstr>VM Lifecycle Diagram</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Acer</dc:creator>
  <cp:keywords/>
  <dc:description>generated using python-pptx</dc:description>
  <cp:lastModifiedBy>Kenny Napoleon</cp:lastModifiedBy>
  <cp:revision>12</cp:revision>
  <dcterms:created xsi:type="dcterms:W3CDTF">2013-01-27T09:14:16Z</dcterms:created>
  <dcterms:modified xsi:type="dcterms:W3CDTF">2025-11-20T07:11:41Z</dcterms:modified>
  <cp:category/>
</cp:coreProperties>
</file>